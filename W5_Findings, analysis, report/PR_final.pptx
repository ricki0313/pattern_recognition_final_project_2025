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1" r:id="rId25"/>
    <p:sldId id="282" r:id="rId2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D306D6-5EDA-41A7-A029-2097DC566606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DAD3C3-6D9D-419F-9EDD-D39116A696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478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DAD3C3-6D9D-419F-9EDD-D39116A69680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904133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30BD50-CD1B-1D86-D558-D0C76030AB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D584111-90D5-48ED-32FD-AFF2B5F3C7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CA7FB7A-59DF-9EE3-8E30-0AFE00DF7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FD35EA0-59B6-805E-070D-F4436BAEE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018153-D6DE-C515-25DA-4565A7635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30140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2EEC28-AFD7-50FF-4ED1-B806699C39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F45C8A-005D-8FB2-2C4E-FEB9518666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6E9635-35A3-4E06-B71B-B69B9CA4A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0E8604-2CB9-9D3D-2883-CE39131600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9387235-3371-FB9F-28A3-445BE6E3D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4058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774A97-788A-B3A0-C9A8-201F31F94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4908C18-09DD-E4AE-5C37-F036B267AC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361CD9-167D-67D0-88AF-125265963C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D559F8-9727-A0FE-4A35-67E886E13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32ACF0-B31C-9F0D-023E-77952E811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882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7CFD6-D379-257D-9F4E-541274A1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1ADC5C-5AF7-B2D1-FA5D-4F46368B90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25DB5BF-6EB5-38D9-8587-5013EE8A46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2A09AFD-6B0E-3A36-A609-5539E174B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E5583FA-038D-CB96-35E9-DD40D52C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289AB2-43DF-C2F4-0877-940E95212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9592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C8E569E-B1C3-4701-8565-DF2948EB1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9300C1-2280-C769-0E17-9691C1965C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879EBB1-48E5-3A74-3A38-0F4FA08466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F46B07B-A383-61D0-84F3-AA8CA271A5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4AE09FF-C36D-7D78-BD67-AE7ECBFD0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90C0320-BEC0-A64C-23D2-F8779F022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CD1C601-F4C9-40C6-7541-7EDBE4C45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2308504-8FC0-1430-8E41-41FCA2D18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01433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C78CA6-AB7F-6D68-14C4-540176E84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1C30611-C156-226B-604C-855C3EE46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B2C2EC5-2E18-7666-E8A6-CD339F87B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B065DAF-1C02-B6D4-D829-34593B44C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490250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AFC1701-C0A3-9AF2-E445-E2404011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5CAEE98D-819D-A81C-AF82-C293491BF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74A8F8E-0A2D-0145-E380-1F2C5FC51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85025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B708A6-5252-5B3C-29E1-092E2F621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1D4B82-FCAE-5178-FBB3-BBA8269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6FB3A37-0050-57CD-5911-8E21BED42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1EAFD13-6A91-7D40-D367-DD0B14DA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7AAA1B5-8AD9-7A74-C887-2D22B4BB9E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8BAD8FF-CAB4-2ED3-7596-2CD34211C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190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CE7A48-3D2B-E30B-C996-F575880EE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12FF8A5D-DECB-FE13-6B38-33E2B0CF29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21170C-8D15-A9EC-FB6C-99A315565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A4A5840-D2DF-8113-573D-C1A8F86D6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D2B4C64-28A1-5A87-10A6-B1DF7B088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93151E-493E-8C95-2969-787F7DE26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2812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F508C5-668F-AF73-BDA5-BB62A45D4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0ECB2EF-8D4A-01FB-82A5-8FB70762C6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5764838-F606-4F63-53B5-D9A56C5FF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CF63119-6BD2-4C90-7B46-FB07A1F4F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3C0614-98B0-82A5-E44A-E9DDFF6FE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617917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4F02AFB-D8B0-8752-EB18-415E79518B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97F174-F10D-DA39-64C7-B882E9D89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647F7DD-37D9-5BD8-2373-D125C8F3A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928DD30-BDF6-2367-117F-FA9F0EE3C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190671D-2D28-02FC-D491-15C16778CF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6732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1F5F36B-A198-03D3-757C-91538EA06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4164321-E11B-99D7-2965-E5ACBA4DD0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A31F24C-526B-36B7-65FD-9FC188316B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FE7B4-1A93-4402-A5FC-9ED28F8DBBC4}" type="datetimeFigureOut">
              <a:rPr lang="zh-TW" altLang="en-US" smtClean="0"/>
              <a:t>2025/12/14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271C09C-72EC-63F4-CF12-C9ACBCAA6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39D57E3-3C0C-808C-BDB1-FB7A10E4E3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7BDFFB-5794-4956-8A33-AE4C268CC23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483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.docx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18F21DC-BDA1-0546-E2B2-1B64EE7F1F55}"/>
              </a:ext>
            </a:extLst>
          </p:cNvPr>
          <p:cNvSpPr txBox="1"/>
          <p:nvPr/>
        </p:nvSpPr>
        <p:spPr>
          <a:xfrm>
            <a:off x="1543329" y="2474893"/>
            <a:ext cx="91053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Pattern Recognition for Customer Behavior Analysis:</a:t>
            </a:r>
          </a:p>
          <a:p>
            <a:pPr algn="ctr"/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Study Using the UCI Online Retail II Dataset </a:t>
            </a:r>
            <a:endParaRPr lang="zh-TW" alt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直線接點 5">
            <a:extLst>
              <a:ext uri="{FF2B5EF4-FFF2-40B4-BE49-F238E27FC236}">
                <a16:creationId xmlns:a16="http://schemas.microsoft.com/office/drawing/2014/main" id="{E1CA7B87-44D8-97E1-07A0-A1A223BDD865}"/>
              </a:ext>
            </a:extLst>
          </p:cNvPr>
          <p:cNvCxnSpPr/>
          <p:nvPr/>
        </p:nvCxnSpPr>
        <p:spPr>
          <a:xfrm>
            <a:off x="1247774" y="3505200"/>
            <a:ext cx="969645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字方塊 6">
            <a:extLst>
              <a:ext uri="{FF2B5EF4-FFF2-40B4-BE49-F238E27FC236}">
                <a16:creationId xmlns:a16="http://schemas.microsoft.com/office/drawing/2014/main" id="{59DDD51E-BB0E-9170-905D-F94F137F52B6}"/>
              </a:ext>
            </a:extLst>
          </p:cNvPr>
          <p:cNvSpPr txBox="1"/>
          <p:nvPr/>
        </p:nvSpPr>
        <p:spPr>
          <a:xfrm>
            <a:off x="4333874" y="3581401"/>
            <a:ext cx="3524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Reporter: YUNG-CHUN</a:t>
            </a:r>
            <a:r>
              <a:rPr lang="zh-TW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</a:t>
            </a:r>
            <a:endParaRPr lang="zh-TW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70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33164B0-4C0B-467C-0A70-0A3FAC6D76F7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CC0BAE-DBE9-DCD6-C20A-D71EFE7C96C7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27315E-9779-B3FB-C29D-0BC8746290BB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5252E49-4092-B957-CB5C-0B72F11EC6D8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B5FCE43-A560-99FA-EF38-D0C9E1FCBC99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4C9D24E-EAEF-7220-FB16-A261B307596E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19DE290-34FA-88CD-F8CE-65FCB230C553}"/>
              </a:ext>
            </a:extLst>
          </p:cNvPr>
          <p:cNvSpPr txBox="1"/>
          <p:nvPr/>
        </p:nvSpPr>
        <p:spPr>
          <a:xfrm>
            <a:off x="1399575" y="1810255"/>
            <a:ext cx="1026855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Motivation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customers behave based on their past purchases.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see how well classical PR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methods can help us find different customer.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242A284-702F-3345-E6D8-DDB64D3E5A47}"/>
              </a:ext>
            </a:extLst>
          </p:cNvPr>
          <p:cNvSpPr txBox="1"/>
          <p:nvPr/>
        </p:nvSpPr>
        <p:spPr>
          <a:xfrm>
            <a:off x="1399575" y="3133694"/>
            <a:ext cx="9925649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Overview</a:t>
            </a:r>
          </a:p>
          <a:p>
            <a:pPr lvl="0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Data cleaning, aggregation, visualization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Data standardization, dimensionality reduction (PCA)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Unsupervised learning method (K-means)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Supervised learning method (compare LDA, KNN and Naïve Gaussian)</a:t>
            </a:r>
            <a:endParaRPr lang="zh-TW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13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894F2-4316-3CA9-73F6-585429C3B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8D4F695-6967-AB86-741C-6A9316D87AEE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B62EEC6-0F72-6F92-0CD7-55E3C7184E3E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47F85AB-F79D-5EF0-B3B2-A4570B456494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D5ED4A-1D11-DB66-CADA-12345DFFA138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C43C581-1A5E-1831-B76A-11546F86AB0F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E48F18E-0B2C-595E-6AF5-4C92AE47233D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0429064-CB37-46A8-4C9D-200E96275941}"/>
              </a:ext>
            </a:extLst>
          </p:cNvPr>
          <p:cNvSpPr txBox="1"/>
          <p:nvPr/>
        </p:nvSpPr>
        <p:spPr>
          <a:xfrm>
            <a:off x="1281373" y="1437130"/>
            <a:ext cx="931725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Raw Data: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541,910 rows, 8 columns</a:t>
            </a:r>
          </a:p>
          <a:p>
            <a:r>
              <a:rPr lang="en-US" altLang="zh-TW" sz="28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After Data Cleaning: </a:t>
            </a:r>
            <a:r>
              <a:rPr lang="en-US" altLang="zh-TW" sz="2800" b="1" dirty="0">
                <a:solidFill>
                  <a:prstClr val="black"/>
                </a:solidFill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3</a:t>
            </a:r>
            <a:r>
              <a:rPr kumimoji="0" lang="en-US" altLang="zh-TW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97,925 rows,</a:t>
            </a:r>
            <a:r>
              <a:rPr lang="en-US" altLang="zh-TW" sz="2800" dirty="0"/>
              <a:t> </a:t>
            </a:r>
            <a:r>
              <a:rPr lang="en-US" altLang="zh-TW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columns</a:t>
            </a:r>
            <a:endParaRPr lang="en-US" altLang="zh-TW" sz="2800" b="1" dirty="0">
              <a:effectLst/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A7137A4-9D86-C3C0-0204-883846B610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8859708"/>
              </p:ext>
            </p:extLst>
          </p:nvPr>
        </p:nvGraphicFramePr>
        <p:xfrm>
          <a:off x="1376625" y="2429359"/>
          <a:ext cx="8936036" cy="2304000"/>
        </p:xfrm>
        <a:graphic>
          <a:graphicData uri="http://schemas.openxmlformats.org/drawingml/2006/table">
            <a:tbl>
              <a:tblPr firstRow="1" firstCol="1" bandRow="1"/>
              <a:tblGrid>
                <a:gridCol w="2232148">
                  <a:extLst>
                    <a:ext uri="{9D8B030D-6E8A-4147-A177-3AD203B41FA5}">
                      <a16:colId xmlns:a16="http://schemas.microsoft.com/office/drawing/2014/main" val="3035610723"/>
                    </a:ext>
                  </a:extLst>
                </a:gridCol>
                <a:gridCol w="6703888">
                  <a:extLst>
                    <a:ext uri="{9D8B030D-6E8A-4147-A177-3AD203B41FA5}">
                      <a16:colId xmlns:a16="http://schemas.microsoft.com/office/drawing/2014/main" val="102152326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Invoice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Invoice number (those starting with “C” indicate returns)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449339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 err="1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StockCode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Product code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999369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Description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Product description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129342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Quantity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Quantity purchased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97013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InvoiceDate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Transaction date and time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747238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Price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Unit price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76418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CustomerID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Customer identifier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2416573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Country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Customer’s country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00234" marR="100234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8675281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482D1A5D-8CC5-5797-8D7F-6A98AB6BE4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7858105"/>
              </p:ext>
            </p:extLst>
          </p:nvPr>
        </p:nvGraphicFramePr>
        <p:xfrm>
          <a:off x="1376625" y="4909383"/>
          <a:ext cx="10086978" cy="1066077"/>
        </p:xfrm>
        <a:graphic>
          <a:graphicData uri="http://schemas.openxmlformats.org/drawingml/2006/table">
            <a:tbl>
              <a:tblPr firstRow="1" firstCol="1" bandRow="1"/>
              <a:tblGrid>
                <a:gridCol w="1030566">
                  <a:extLst>
                    <a:ext uri="{9D8B030D-6E8A-4147-A177-3AD203B41FA5}">
                      <a16:colId xmlns:a16="http://schemas.microsoft.com/office/drawing/2014/main" val="3751578460"/>
                    </a:ext>
                  </a:extLst>
                </a:gridCol>
                <a:gridCol w="1030566">
                  <a:extLst>
                    <a:ext uri="{9D8B030D-6E8A-4147-A177-3AD203B41FA5}">
                      <a16:colId xmlns:a16="http://schemas.microsoft.com/office/drawing/2014/main" val="2681809710"/>
                    </a:ext>
                  </a:extLst>
                </a:gridCol>
                <a:gridCol w="2031973">
                  <a:extLst>
                    <a:ext uri="{9D8B030D-6E8A-4147-A177-3AD203B41FA5}">
                      <a16:colId xmlns:a16="http://schemas.microsoft.com/office/drawing/2014/main" val="2089263520"/>
                    </a:ext>
                  </a:extLst>
                </a:gridCol>
                <a:gridCol w="954309">
                  <a:extLst>
                    <a:ext uri="{9D8B030D-6E8A-4147-A177-3AD203B41FA5}">
                      <a16:colId xmlns:a16="http://schemas.microsoft.com/office/drawing/2014/main" val="3562806238"/>
                    </a:ext>
                  </a:extLst>
                </a:gridCol>
                <a:gridCol w="1429784">
                  <a:extLst>
                    <a:ext uri="{9D8B030D-6E8A-4147-A177-3AD203B41FA5}">
                      <a16:colId xmlns:a16="http://schemas.microsoft.com/office/drawing/2014/main" val="358340111"/>
                    </a:ext>
                  </a:extLst>
                </a:gridCol>
                <a:gridCol w="790376">
                  <a:extLst>
                    <a:ext uri="{9D8B030D-6E8A-4147-A177-3AD203B41FA5}">
                      <a16:colId xmlns:a16="http://schemas.microsoft.com/office/drawing/2014/main" val="1076536863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1552378507"/>
                    </a:ext>
                  </a:extLst>
                </a:gridCol>
                <a:gridCol w="1438279">
                  <a:extLst>
                    <a:ext uri="{9D8B030D-6E8A-4147-A177-3AD203B41FA5}">
                      <a16:colId xmlns:a16="http://schemas.microsoft.com/office/drawing/2014/main" val="2267644245"/>
                    </a:ext>
                  </a:extLst>
                </a:gridCol>
              </a:tblGrid>
              <a:tr h="39433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Invoice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Stockcode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Description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Quantity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InvoiceDate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Price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Customer ID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Country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5552277"/>
                  </a:ext>
                </a:extLst>
              </a:tr>
              <a:tr h="67173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536365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85123A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WHITE HANGING HEART</a:t>
                      </a:r>
                      <a:endParaRPr lang="zh-TW" sz="11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T-LIGHT HOLDER</a:t>
                      </a:r>
                      <a:endParaRPr lang="zh-TW" sz="11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2010-12-01 08:26:00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2.55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17850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United Kingdom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9755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720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8952-134A-3B10-F2A6-2A06F7CCC0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C1512F5-E06A-BF59-3CB4-52A20D1E882F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F02A0BD-ADF3-6178-68BB-59921B0A44B2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E04FFE5-5CEE-67E7-B861-9BEB2A9AF083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6876C63-D2C4-2333-49C3-95E26B5AAB67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D2055F1-4CF3-CE85-8547-2BDFCEB327D4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BABEFDB-9FDD-8EA4-C63B-019099568B11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34E8E2B-DB02-4725-0F53-5279E54BF6AC}"/>
              </a:ext>
            </a:extLst>
          </p:cNvPr>
          <p:cNvSpPr txBox="1"/>
          <p:nvPr/>
        </p:nvSpPr>
        <p:spPr>
          <a:xfrm>
            <a:off x="731033" y="1098252"/>
            <a:ext cx="967979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Aggregation on Customer ID</a:t>
            </a:r>
            <a:r>
              <a:rPr kumimoji="0" lang="zh-TW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 </a:t>
            </a: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(4339 rows, 8 columns)</a:t>
            </a:r>
          </a:p>
        </p:txBody>
      </p:sp>
      <p:graphicFrame>
        <p:nvGraphicFramePr>
          <p:cNvPr id="28" name="表格 27">
            <a:extLst>
              <a:ext uri="{FF2B5EF4-FFF2-40B4-BE49-F238E27FC236}">
                <a16:creationId xmlns:a16="http://schemas.microsoft.com/office/drawing/2014/main" id="{290F2B4A-C11C-F97A-765A-F119A7E9BB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141042"/>
              </p:ext>
            </p:extLst>
          </p:nvPr>
        </p:nvGraphicFramePr>
        <p:xfrm>
          <a:off x="1069180" y="1758892"/>
          <a:ext cx="10053639" cy="4222806"/>
        </p:xfrm>
        <a:graphic>
          <a:graphicData uri="http://schemas.openxmlformats.org/drawingml/2006/table">
            <a:tbl>
              <a:tblPr firstRow="1" firstCol="1" bandRow="1"/>
              <a:tblGrid>
                <a:gridCol w="2124074">
                  <a:extLst>
                    <a:ext uri="{9D8B030D-6E8A-4147-A177-3AD203B41FA5}">
                      <a16:colId xmlns:a16="http://schemas.microsoft.com/office/drawing/2014/main" val="85379912"/>
                    </a:ext>
                  </a:extLst>
                </a:gridCol>
                <a:gridCol w="3895829">
                  <a:extLst>
                    <a:ext uri="{9D8B030D-6E8A-4147-A177-3AD203B41FA5}">
                      <a16:colId xmlns:a16="http://schemas.microsoft.com/office/drawing/2014/main" val="3967208887"/>
                    </a:ext>
                  </a:extLst>
                </a:gridCol>
                <a:gridCol w="4033736">
                  <a:extLst>
                    <a:ext uri="{9D8B030D-6E8A-4147-A177-3AD203B41FA5}">
                      <a16:colId xmlns:a16="http://schemas.microsoft.com/office/drawing/2014/main" val="1591541135"/>
                    </a:ext>
                  </a:extLst>
                </a:gridCol>
              </a:tblGrid>
              <a:tr h="31060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Feature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Description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b="1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Effect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5142443"/>
                  </a:ext>
                </a:extLst>
              </a:tr>
              <a:tr h="621244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Recency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Number of days since the last purchase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Customer activity level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0096545"/>
                  </a:ext>
                </a:extLst>
              </a:tr>
              <a:tr h="7247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Frequency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Number of purchases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High-frequency vs. 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low-frequency customer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7101161"/>
                  </a:ext>
                </a:extLst>
              </a:tr>
              <a:tr h="5583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Monetary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Total spending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Measuring customer value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8966180"/>
                  </a:ext>
                </a:extLst>
              </a:tr>
              <a:tr h="55832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AvgUnitPrice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Average unit price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Assessing spending level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1051954"/>
                  </a:ext>
                </a:extLst>
              </a:tr>
              <a:tr h="7247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UniqueItems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Number of product types purchased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Identifying diverse vs. 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specialized customer groups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2459356"/>
                  </a:ext>
                </a:extLst>
              </a:tr>
              <a:tr h="72477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 err="1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AvgQuantPerOrder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Average quantity per order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Assessing bulk vs. </a:t>
                      </a:r>
                    </a:p>
                    <a:p>
                      <a:pPr algn="l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non-bulk purchasing behavior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124914" marR="124914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547305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2681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6F73F-BF75-0E58-310B-AB2BAFCAF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4459EE7-E0BE-30CC-2EA9-4A579CAAD8E3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F24FA17-7396-CBE3-51A1-64CB78DC2EE7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7948EB2-5852-0899-6675-CC1FA0940146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3812758-B71C-E5EC-8732-14B6EB3B8883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EEF82F7-2173-DE00-E73E-47CDD3E47619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F35873D-033B-78C2-47F0-75BC68C87735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94DBBC67-4F32-CE84-639D-8C67E8858BC9}"/>
              </a:ext>
            </a:extLst>
          </p:cNvPr>
          <p:cNvSpPr txBox="1"/>
          <p:nvPr/>
        </p:nvSpPr>
        <p:spPr>
          <a:xfrm>
            <a:off x="479100" y="746900"/>
            <a:ext cx="296895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3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新細明體" panose="02020500000000000000" pitchFamily="18" charset="-120"/>
                <a:cs typeface="+mn-cs"/>
              </a:rPr>
              <a:t>Visualization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A0F601C8-7A88-CFD5-276F-A76E96674F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7"/>
          <a:stretch>
            <a:fillRect/>
          </a:stretch>
        </p:blipFill>
        <p:spPr>
          <a:xfrm>
            <a:off x="313209" y="1638380"/>
            <a:ext cx="3782698" cy="2200194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0C8340BE-F653-C5EE-5B13-B16FFC67F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7"/>
          <a:stretch>
            <a:fillRect/>
          </a:stretch>
        </p:blipFill>
        <p:spPr>
          <a:xfrm>
            <a:off x="4129566" y="1638379"/>
            <a:ext cx="3782822" cy="2200195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C0C3537E-D438-8E24-1351-F0DD2808502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7"/>
          <a:stretch>
            <a:fillRect/>
          </a:stretch>
        </p:blipFill>
        <p:spPr>
          <a:xfrm>
            <a:off x="7912388" y="1638379"/>
            <a:ext cx="3782822" cy="2200196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25312B3-7DBD-E54B-FD9A-2180EDA3D9D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17"/>
          <a:stretch>
            <a:fillRect/>
          </a:stretch>
        </p:blipFill>
        <p:spPr>
          <a:xfrm>
            <a:off x="313085" y="4354829"/>
            <a:ext cx="3782822" cy="220019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7169A01-D3BE-4E9B-F961-BF0821BDF5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5"/>
          <a:stretch>
            <a:fillRect/>
          </a:stretch>
        </p:blipFill>
        <p:spPr>
          <a:xfrm>
            <a:off x="4116134" y="4335698"/>
            <a:ext cx="3816481" cy="2219327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48A9BF2-F122-ABCE-5E5D-854FA72B05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6"/>
          <a:stretch>
            <a:fillRect/>
          </a:stretch>
        </p:blipFill>
        <p:spPr>
          <a:xfrm>
            <a:off x="7895558" y="4335698"/>
            <a:ext cx="3816482" cy="2219326"/>
          </a:xfrm>
          <a:prstGeom prst="rect">
            <a:avLst/>
          </a:prstGeom>
        </p:spPr>
      </p:pic>
      <p:sp>
        <p:nvSpPr>
          <p:cNvPr id="9" name="橢圓 8">
            <a:extLst>
              <a:ext uri="{FF2B5EF4-FFF2-40B4-BE49-F238E27FC236}">
                <a16:creationId xmlns:a16="http://schemas.microsoft.com/office/drawing/2014/main" id="{AF2E5D97-85AB-B10C-2B79-A7CEAC34ABE0}"/>
              </a:ext>
            </a:extLst>
          </p:cNvPr>
          <p:cNvSpPr/>
          <p:nvPr/>
        </p:nvSpPr>
        <p:spPr>
          <a:xfrm>
            <a:off x="8639175" y="3257550"/>
            <a:ext cx="2867025" cy="682891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F691955-C582-C85B-D9EB-B2132A55C04D}"/>
              </a:ext>
            </a:extLst>
          </p:cNvPr>
          <p:cNvSpPr/>
          <p:nvPr/>
        </p:nvSpPr>
        <p:spPr>
          <a:xfrm>
            <a:off x="8639174" y="5974009"/>
            <a:ext cx="2867025" cy="682891"/>
          </a:xfrm>
          <a:prstGeom prst="ellipse">
            <a:avLst/>
          </a:prstGeom>
          <a:noFill/>
          <a:ln w="28575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D6C229E2-4BF5-3250-0F6C-9BCBE67A57C0}"/>
              </a:ext>
            </a:extLst>
          </p:cNvPr>
          <p:cNvSpPr txBox="1"/>
          <p:nvPr/>
        </p:nvSpPr>
        <p:spPr>
          <a:xfrm>
            <a:off x="1784030" y="1319411"/>
            <a:ext cx="983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Recency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AD34509-F313-463C-11C5-66D4E167C415}"/>
              </a:ext>
            </a:extLst>
          </p:cNvPr>
          <p:cNvSpPr txBox="1"/>
          <p:nvPr/>
        </p:nvSpPr>
        <p:spPr>
          <a:xfrm>
            <a:off x="5382205" y="1288086"/>
            <a:ext cx="1612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Frequency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8B9C92BD-8CC7-92BE-B5E0-BACD34066D51}"/>
              </a:ext>
            </a:extLst>
          </p:cNvPr>
          <p:cNvSpPr txBox="1"/>
          <p:nvPr/>
        </p:nvSpPr>
        <p:spPr>
          <a:xfrm>
            <a:off x="9054896" y="1293988"/>
            <a:ext cx="1612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zh-TW" sz="18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Monetary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4E541739-C14F-8604-4AAE-986C80FBBF60}"/>
              </a:ext>
            </a:extLst>
          </p:cNvPr>
          <p:cNvSpPr txBox="1"/>
          <p:nvPr/>
        </p:nvSpPr>
        <p:spPr>
          <a:xfrm>
            <a:off x="1469705" y="4010368"/>
            <a:ext cx="1612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zh-TW" sz="1800" kern="100" dirty="0" err="1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AvgUnitPrice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520422E4-3D44-3609-AF66-982344F2BDAC}"/>
              </a:ext>
            </a:extLst>
          </p:cNvPr>
          <p:cNvSpPr txBox="1"/>
          <p:nvPr/>
        </p:nvSpPr>
        <p:spPr>
          <a:xfrm>
            <a:off x="5382205" y="3985496"/>
            <a:ext cx="16121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zh-TW" sz="1800" kern="100" dirty="0" err="1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UniqueItems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ECAF3A1-5CC7-5D7A-8FB5-CB9938FC8E59}"/>
              </a:ext>
            </a:extLst>
          </p:cNvPr>
          <p:cNvSpPr txBox="1"/>
          <p:nvPr/>
        </p:nvSpPr>
        <p:spPr>
          <a:xfrm>
            <a:off x="8963017" y="3975363"/>
            <a:ext cx="22193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altLang="zh-TW" sz="1800" kern="100" dirty="0" err="1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AvgQuantPerOrder</a:t>
            </a:r>
            <a:endParaRPr lang="zh-TW" altLang="zh-TW" sz="18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38488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DB73-70E3-7871-B3E8-D3F5E80DB9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75855C3-7278-BED8-811B-A998AF642337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2E674EE-F1BA-2C7C-0D4F-61D4FC6EB944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30A1D66-77F8-23B2-945F-50A80E9B76F7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E384D94-2EE2-B9C8-DFD3-4CDD64C39F1B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619B865-9C1C-9691-8E56-A28B77E63132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7C453F6-7DF7-F0E5-2BB4-FA1464CD8308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21B67F89-4539-A86D-7571-51913198D06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7" b="2124"/>
          <a:stretch>
            <a:fillRect/>
          </a:stretch>
        </p:blipFill>
        <p:spPr bwMode="auto">
          <a:xfrm>
            <a:off x="2557671" y="1164904"/>
            <a:ext cx="6764655" cy="55490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114296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784DE-FD73-DE3F-2ABD-A74102AD7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09CEF25-B046-751F-BA6B-F3B56FE0A37C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A67E46A-96C5-B46E-9B33-471FC9D1512E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4EE4FB-3C1F-FA75-9407-71D280DC0308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A14A305-C99C-8459-C492-EDE78EF6D13D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74919BB-183D-D438-6EFF-749696647CAA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D90FC8-E3DF-594D-8B2D-FDCF4979AC8E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8A61A80-759E-F6FC-C009-68565492FC57}"/>
              </a:ext>
            </a:extLst>
          </p:cNvPr>
          <p:cNvSpPr txBox="1"/>
          <p:nvPr/>
        </p:nvSpPr>
        <p:spPr>
          <a:xfrm>
            <a:off x="852487" y="1385811"/>
            <a:ext cx="34790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Standardization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2507988-1C2D-EE36-5CC1-BC602654E490}"/>
                  </a:ext>
                </a:extLst>
              </p:cNvPr>
              <p:cNvSpPr txBox="1"/>
              <p:nvPr/>
            </p:nvSpPr>
            <p:spPr>
              <a:xfrm>
                <a:off x="5040796" y="2144720"/>
                <a:ext cx="2110405" cy="8302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en-US" sz="28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zh-TW" altLang="en-US" sz="2800" i="0">
                              <a:latin typeface="Cambria Math" panose="02040503050406030204" pitchFamily="18" charset="0"/>
                            </a:rPr>
                            <m:t>− </m:t>
                          </m:r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𝜎</m:t>
                          </m:r>
                        </m:den>
                      </m:f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42507988-1C2D-EE36-5CC1-BC602654E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0796" y="2144720"/>
                <a:ext cx="2110405" cy="830292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6" name="物件 25">
            <a:extLst>
              <a:ext uri="{FF2B5EF4-FFF2-40B4-BE49-F238E27FC236}">
                <a16:creationId xmlns:a16="http://schemas.microsoft.com/office/drawing/2014/main" id="{031D58C9-3FC7-33EB-36EB-6A37415D56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45950215"/>
              </p:ext>
            </p:extLst>
          </p:nvPr>
        </p:nvGraphicFramePr>
        <p:xfrm>
          <a:off x="709612" y="3350644"/>
          <a:ext cx="10772775" cy="29759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6120457" imgH="1693861" progId="Word.Document.12">
                  <p:embed/>
                </p:oleObj>
              </mc:Choice>
              <mc:Fallback>
                <p:oleObj name="Document" r:id="rId3" imgW="6120457" imgH="16938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09612" y="3350644"/>
                        <a:ext cx="10772775" cy="297598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0589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7963A-98B1-13F8-3D85-530CCAE59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E03DCD4-4915-15AC-72C3-8D78F51AACAD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798CD2-6130-1B37-8B85-D5206C6C6DFB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6093AF6-0B3B-58CE-4692-EB0E8F9D130E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258085E-8307-3183-DE50-F9ACFBB652BE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E71CA35-AEC5-EE21-CC70-303721ED06B9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BBC9393-4B66-9CA3-A1AA-8E83833078C5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F87099E-95AF-28BC-DFDA-4541D19C21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8446050"/>
              </p:ext>
            </p:extLst>
          </p:nvPr>
        </p:nvGraphicFramePr>
        <p:xfrm>
          <a:off x="972711" y="1808072"/>
          <a:ext cx="9934576" cy="2556001"/>
        </p:xfrm>
        <a:graphic>
          <a:graphicData uri="http://schemas.openxmlformats.org/drawingml/2006/table">
            <a:tbl>
              <a:tblPr firstRow="1" firstCol="1" bandRow="1"/>
              <a:tblGrid>
                <a:gridCol w="587398">
                  <a:extLst>
                    <a:ext uri="{9D8B030D-6E8A-4147-A177-3AD203B41FA5}">
                      <a16:colId xmlns:a16="http://schemas.microsoft.com/office/drawing/2014/main" val="2151694390"/>
                    </a:ext>
                  </a:extLst>
                </a:gridCol>
                <a:gridCol w="902760">
                  <a:extLst>
                    <a:ext uri="{9D8B030D-6E8A-4147-A177-3AD203B41FA5}">
                      <a16:colId xmlns:a16="http://schemas.microsoft.com/office/drawing/2014/main" val="1355522657"/>
                    </a:ext>
                  </a:extLst>
                </a:gridCol>
                <a:gridCol w="1364408">
                  <a:extLst>
                    <a:ext uri="{9D8B030D-6E8A-4147-A177-3AD203B41FA5}">
                      <a16:colId xmlns:a16="http://schemas.microsoft.com/office/drawing/2014/main" val="1030670280"/>
                    </a:ext>
                  </a:extLst>
                </a:gridCol>
                <a:gridCol w="1048853">
                  <a:extLst>
                    <a:ext uri="{9D8B030D-6E8A-4147-A177-3AD203B41FA5}">
                      <a16:colId xmlns:a16="http://schemas.microsoft.com/office/drawing/2014/main" val="1789971821"/>
                    </a:ext>
                  </a:extLst>
                </a:gridCol>
                <a:gridCol w="1351116">
                  <a:extLst>
                    <a:ext uri="{9D8B030D-6E8A-4147-A177-3AD203B41FA5}">
                      <a16:colId xmlns:a16="http://schemas.microsoft.com/office/drawing/2014/main" val="3307649334"/>
                    </a:ext>
                  </a:extLst>
                </a:gridCol>
                <a:gridCol w="1301747">
                  <a:extLst>
                    <a:ext uri="{9D8B030D-6E8A-4147-A177-3AD203B41FA5}">
                      <a16:colId xmlns:a16="http://schemas.microsoft.com/office/drawing/2014/main" val="1988596067"/>
                    </a:ext>
                  </a:extLst>
                </a:gridCol>
                <a:gridCol w="1898212">
                  <a:extLst>
                    <a:ext uri="{9D8B030D-6E8A-4147-A177-3AD203B41FA5}">
                      <a16:colId xmlns:a16="http://schemas.microsoft.com/office/drawing/2014/main" val="1263423855"/>
                    </a:ext>
                  </a:extLst>
                </a:gridCol>
                <a:gridCol w="1480082">
                  <a:extLst>
                    <a:ext uri="{9D8B030D-6E8A-4147-A177-3AD203B41FA5}">
                      <a16:colId xmlns:a16="http://schemas.microsoft.com/office/drawing/2014/main" val="1814541272"/>
                    </a:ext>
                  </a:extLst>
                </a:gridCol>
              </a:tblGrid>
              <a:tr h="79664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12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Recency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_scaled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Frequency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_scaled</a:t>
                      </a:r>
                      <a:endParaRPr lang="zh-TW" altLang="en-US" sz="1600" dirty="0"/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Monetary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_scaled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AvgUnitPrice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_scaled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UniqueItems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_scaled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AvgQuantPerOrder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_scaled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Explained_Var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ratio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9607797"/>
                  </a:ext>
                </a:extLst>
              </a:tr>
              <a:tr h="2932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PC1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-0.308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0.595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0.484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-0.017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0.559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0.066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0.37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558646"/>
                  </a:ext>
                </a:extLst>
              </a:tr>
              <a:tr h="2932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PC2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0.362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-0.052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0.379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0.154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-0.165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0.820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0.19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9292376"/>
                  </a:ext>
                </a:extLst>
              </a:tr>
              <a:tr h="2932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PC3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-0.009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0.033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-0.005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0.984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0.014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-0.173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0.17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025079"/>
                  </a:ext>
                </a:extLst>
              </a:tr>
              <a:tr h="2932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PC4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0.851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0.222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0.192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-0.073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0.113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-0.414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0.14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760274"/>
                  </a:ext>
                </a:extLst>
              </a:tr>
              <a:tr h="2932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PC5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-0.223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-0.110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0.701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-0.047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-0.574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-0.339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0.09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6238743"/>
                  </a:ext>
                </a:extLst>
              </a:tr>
              <a:tr h="29322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1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PC6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-0.015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0.762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-0.307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-0.005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-0.563</a:t>
                      </a:r>
                      <a:endParaRPr lang="zh-TW" sz="16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0.084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0.04</a:t>
                      </a:r>
                      <a:endParaRPr lang="zh-TW" sz="16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6647496"/>
                  </a:ext>
                </a:extLst>
              </a:tr>
            </a:tbl>
          </a:graphicData>
        </a:graphic>
      </p:graphicFrame>
      <p:sp>
        <p:nvSpPr>
          <p:cNvPr id="7" name="右大括弧 6">
            <a:extLst>
              <a:ext uri="{FF2B5EF4-FFF2-40B4-BE49-F238E27FC236}">
                <a16:creationId xmlns:a16="http://schemas.microsoft.com/office/drawing/2014/main" id="{C918F7DC-162F-90B5-A861-954B2BA64518}"/>
              </a:ext>
            </a:extLst>
          </p:cNvPr>
          <p:cNvSpPr/>
          <p:nvPr/>
        </p:nvSpPr>
        <p:spPr>
          <a:xfrm>
            <a:off x="10963675" y="2613279"/>
            <a:ext cx="334518" cy="843534"/>
          </a:xfrm>
          <a:prstGeom prst="rightBrace">
            <a:avLst>
              <a:gd name="adj1" fmla="val 8333"/>
              <a:gd name="adj2" fmla="val 53220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97D2441-4CDC-CA28-786C-B378C54DBA06}"/>
              </a:ext>
            </a:extLst>
          </p:cNvPr>
          <p:cNvSpPr txBox="1"/>
          <p:nvPr/>
        </p:nvSpPr>
        <p:spPr>
          <a:xfrm>
            <a:off x="11130934" y="2860250"/>
            <a:ext cx="937260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altLang="zh-TW" sz="18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73%</a:t>
            </a:r>
            <a:endParaRPr lang="zh-TW" altLang="zh-TW" sz="1800" b="1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D44F73-3193-6B12-CC22-0DFD6A713BEF}"/>
              </a:ext>
            </a:extLst>
          </p:cNvPr>
          <p:cNvSpPr txBox="1"/>
          <p:nvPr/>
        </p:nvSpPr>
        <p:spPr>
          <a:xfrm>
            <a:off x="916323" y="1223295"/>
            <a:ext cx="34790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PCA</a:t>
            </a:r>
            <a:endParaRPr lang="zh-TW" altLang="en-US" sz="32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BCB32EBF-5270-FBEE-71C9-39CE99B31B0B}"/>
              </a:ext>
            </a:extLst>
          </p:cNvPr>
          <p:cNvSpPr txBox="1"/>
          <p:nvPr/>
        </p:nvSpPr>
        <p:spPr>
          <a:xfrm>
            <a:off x="972711" y="4504254"/>
            <a:ext cx="8646777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spcBef>
                <a:spcPts val="12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TW" sz="20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PC1 (37.3%): Customer Value and Activity</a:t>
            </a:r>
          </a:p>
          <a:p>
            <a:pPr marL="342900" lvl="0" indent="-342900" algn="just">
              <a:spcBef>
                <a:spcPts val="12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TW" sz="2000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PC2 (18.6%): Bulk or Wholesale Purchasing Behavior</a:t>
            </a:r>
            <a:endParaRPr lang="zh-TW" altLang="zh-TW" sz="20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42900" lvl="0" indent="-342900" algn="just">
              <a:spcBef>
                <a:spcPts val="1200"/>
              </a:spcBef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altLang="zh-TW" sz="20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PC3 (16.6%): Unit Price Preference</a:t>
            </a:r>
            <a:endParaRPr lang="zh-TW" altLang="zh-TW" sz="2000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4875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7F00B-7C38-41C0-484A-373C13E72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87599FA-A50A-DD61-CF6A-C77034F8DE36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27E032E-C4FD-37F6-800E-46FD0EB20364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3EEDF42-0521-F248-DB25-207C7ED7DB16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02EE438-CFDD-4BDB-26F7-4B6039020AD6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73E5CD9-583F-07B3-1B0F-957A91DA579A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72FB5C9-F627-0A4D-0BD3-1E5A25C52E1A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F6E6286-7B97-F293-E33C-81B79A5270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76"/>
          <a:stretch>
            <a:fillRect/>
          </a:stretch>
        </p:blipFill>
        <p:spPr bwMode="auto">
          <a:xfrm>
            <a:off x="5587820" y="1604038"/>
            <a:ext cx="5614180" cy="51263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E67501A6-4DD9-FA37-7969-E17F429056A4}"/>
              </a:ext>
            </a:extLst>
          </p:cNvPr>
          <p:cNvSpPr txBox="1"/>
          <p:nvPr/>
        </p:nvSpPr>
        <p:spPr>
          <a:xfrm>
            <a:off x="666149" y="1137313"/>
            <a:ext cx="8011125" cy="17132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1200"/>
              </a:spcBef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PC1 : Customer Value and Activity</a:t>
            </a:r>
          </a:p>
          <a:p>
            <a:pPr lvl="0" algn="just">
              <a:spcBef>
                <a:spcPts val="1200"/>
              </a:spcBef>
              <a:spcAft>
                <a:spcPts val="800"/>
              </a:spcAft>
            </a:pPr>
            <a:r>
              <a:rPr lang="en-US" altLang="zh-TW" sz="2400" b="1" kern="1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PC2 : Bulk or Wholesale Purchasing Behavior</a:t>
            </a:r>
            <a:endParaRPr lang="zh-TW" altLang="zh-TW" sz="2400" b="1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lvl="0" algn="just">
              <a:spcBef>
                <a:spcPts val="1200"/>
              </a:spcBef>
              <a:spcAft>
                <a:spcPts val="800"/>
              </a:spcAft>
            </a:pPr>
            <a:r>
              <a:rPr lang="en-US" altLang="zh-TW" sz="24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PC3 : Unit Price Preference</a:t>
            </a:r>
            <a:endParaRPr lang="zh-TW" altLang="zh-TW" sz="2400" b="1" kern="100" dirty="0">
              <a:effectLst/>
              <a:latin typeface="Calibri" panose="020F0502020204030204" pitchFamily="34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3552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A5318-A8A6-E22D-0715-5FC8EB320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0065BBE-0DCC-5BD0-A7E0-CEEDF9122E92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4EDC4AB-C7BA-DEA5-931E-F885A62D7BE4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E876E4A-9556-249D-4D6D-3A64FBC9BB92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1C7B518-7A7E-56DC-9DFD-2FFF5CEC9171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1FB81B-BA6C-8734-3BD2-236FEBCFA5B9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5D1FEB-2F5B-E5F8-1B04-572BE01370BC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FCA727D-8DE2-31FE-9291-D57664D57CCC}"/>
              </a:ext>
            </a:extLst>
          </p:cNvPr>
          <p:cNvSpPr txBox="1"/>
          <p:nvPr/>
        </p:nvSpPr>
        <p:spPr>
          <a:xfrm>
            <a:off x="1376080" y="1156454"/>
            <a:ext cx="37109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K-means Clustering</a:t>
            </a:r>
            <a:endParaRPr lang="zh-TW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A17D534-7635-1ED2-A837-3C4A6A8B9303}"/>
                  </a:ext>
                </a:extLst>
              </p:cNvPr>
              <p:cNvSpPr txBox="1"/>
              <p:nvPr/>
            </p:nvSpPr>
            <p:spPr>
              <a:xfrm>
                <a:off x="1371600" y="1829239"/>
                <a:ext cx="3454260" cy="12178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TW" altLang="en-US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zh-TW" altLang="en-US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</m:func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sSup>
                            <m:sSupPr>
                              <m:ctrlPr>
                                <a:rPr lang="zh-TW" altLang="en-US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TW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zh-TW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||</m:t>
                              </m:r>
                            </m:e>
                            <m:sup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7A17D534-7635-1ED2-A837-3C4A6A8B93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1829239"/>
                <a:ext cx="3454260" cy="1217898"/>
              </a:xfrm>
              <a:prstGeom prst="rect">
                <a:avLst/>
              </a:prstGeom>
              <a:blipFill>
                <a:blip r:embed="rId2"/>
                <a:stretch>
                  <a:fillRect l="-2646" t="-4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239FBD3E-DCC0-745A-5300-88B76F2C7E28}"/>
                  </a:ext>
                </a:extLst>
              </p:cNvPr>
              <p:cNvSpPr txBox="1"/>
              <p:nvPr/>
            </p:nvSpPr>
            <p:spPr>
              <a:xfrm>
                <a:off x="5231340" y="1829239"/>
                <a:ext cx="6111240" cy="46465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just"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TW" sz="2400" dirty="0">
                    <a:latin typeface="Times New Roman" panose="02020603050405020304" pitchFamily="18" charset="0"/>
                  </a:rPr>
                  <a:t>Repeat two simple steps:</a:t>
                </a:r>
                <a:endParaRPr lang="en-US" altLang="zh-TW" sz="2400" kern="100" dirty="0">
                  <a:effectLst/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342900" lvl="0" indent="-342900" algn="just">
                  <a:lnSpc>
                    <a:spcPct val="115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"/>
                </a:pPr>
                <a:r>
                  <a:rPr lang="en-US" altLang="zh-TW" sz="20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Step 1 (Assign points)</a:t>
                </a: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m:rPr>
                                <m:sty m:val="p"/>
                              </m:rPr>
                              <a:rPr lang="en-US" altLang="zh-TW" sz="2000" i="0">
                                <a:latin typeface="Cambria Math" panose="02040503050406030204" pitchFamily="18" charset="0"/>
                              </a:rPr>
                              <m:t>argmin</m:t>
                            </m:r>
                          </m:e>
                        </m:mr>
                        <m:mr>
                          <m:e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∈{1,…,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TW" sz="2000" i="1">
                                <a:latin typeface="Cambria Math" panose="02040503050406030204" pitchFamily="18" charset="0"/>
                              </a:rPr>
                              <m:t>}</m:t>
                            </m:r>
                          </m:e>
                        </m:mr>
                      </m:m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000" b="0" i="1" smtClean="0">
                              <a:latin typeface="Cambria Math" panose="02040503050406030204" pitchFamily="18" charset="0"/>
                            </a:rPr>
                            <m:t>||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altLang="zh-TW" sz="2000" dirty="0"/>
              </a:p>
              <a:p>
                <a:pPr marL="342900" lvl="0" indent="-342900">
                  <a:lnSpc>
                    <a:spcPct val="115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"/>
                </a:pPr>
                <a:r>
                  <a:rPr lang="en-US" altLang="zh-TW" sz="20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Step 2 (Update centers)</a:t>
                </a:r>
                <a:endParaRPr lang="zh-TW" altLang="zh-TW" sz="20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algn="ctr"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, 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: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</m:oMath>
                  </m:oMathPara>
                </a14:m>
                <a:endParaRPr lang="en-US" altLang="zh-TW" sz="2000" dirty="0"/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Until:</a:t>
                </a:r>
              </a:p>
              <a:p>
                <a:pPr>
                  <a:lnSpc>
                    <a:spcPct val="115000"/>
                  </a:lnSpc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b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∀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  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  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+1)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𝜀</m:t>
                      </m:r>
                    </m:oMath>
                  </m:oMathPara>
                </a14:m>
                <a:endParaRPr lang="zh-TW" altLang="zh-TW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algn="ctr">
                  <a:lnSpc>
                    <a:spcPct val="115000"/>
                  </a:lnSpc>
                  <a:spcAft>
                    <a:spcPts val="800"/>
                  </a:spcAft>
                  <a:buFont typeface="Wingdings" panose="05000000000000000000" pitchFamily="2" charset="2"/>
                  <a:buChar char=""/>
                </a:pPr>
                <a:endParaRPr lang="zh-TW" altLang="zh-TW" sz="18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文字方塊 18">
                <a:extLst>
                  <a:ext uri="{FF2B5EF4-FFF2-40B4-BE49-F238E27FC236}">
                    <a16:creationId xmlns:a16="http://schemas.microsoft.com/office/drawing/2014/main" id="{239FBD3E-DCC0-745A-5300-88B76F2C7E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31340" y="1829239"/>
                <a:ext cx="6111240" cy="4646593"/>
              </a:xfrm>
              <a:prstGeom prst="rect">
                <a:avLst/>
              </a:prstGeom>
              <a:blipFill>
                <a:blip r:embed="rId3"/>
                <a:stretch>
                  <a:fillRect l="-1496" t="-5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矩形 21">
            <a:extLst>
              <a:ext uri="{FF2B5EF4-FFF2-40B4-BE49-F238E27FC236}">
                <a16:creationId xmlns:a16="http://schemas.microsoft.com/office/drawing/2014/main" id="{C34618DC-997D-66D4-C587-C74C138344F0}"/>
              </a:ext>
            </a:extLst>
          </p:cNvPr>
          <p:cNvSpPr/>
          <p:nvPr/>
        </p:nvSpPr>
        <p:spPr>
          <a:xfrm>
            <a:off x="5087020" y="1829239"/>
            <a:ext cx="5547360" cy="440557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887132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67566-C073-5A24-E2B2-76A0CFC4F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09BF281-3C2F-17ED-6578-91B7A12D6330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E290BA8-8DAF-F51D-A5A4-B7B5D0E3281C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55F114-2B56-51D9-A85C-F0517B46B7F2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5186B23-3329-6930-1CF0-153661939756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6F1CD0C-B9DF-E377-71D3-ECC9871FDBDA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E53DEE3-8FC1-A5E9-3776-15532760D0A4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59E9E1A4-C2E1-ED1A-B086-D3180F0DEF35}"/>
              </a:ext>
            </a:extLst>
          </p:cNvPr>
          <p:cNvSpPr txBox="1"/>
          <p:nvPr/>
        </p:nvSpPr>
        <p:spPr>
          <a:xfrm>
            <a:off x="1778389" y="1721281"/>
            <a:ext cx="37109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Silhouette Score</a:t>
            </a:r>
            <a:endParaRPr lang="zh-TW" altLang="en-US" sz="3200" dirty="0"/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742BB4A0-04E5-97A3-990F-1CA7517AA87E}"/>
              </a:ext>
            </a:extLst>
          </p:cNvPr>
          <p:cNvGrpSpPr/>
          <p:nvPr/>
        </p:nvGrpSpPr>
        <p:grpSpPr>
          <a:xfrm>
            <a:off x="1459865" y="3825967"/>
            <a:ext cx="9851390" cy="1641519"/>
            <a:chOff x="-676910" y="2653574"/>
            <a:chExt cx="9851390" cy="164151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598DDCA2-8818-64AD-6B1C-B28B4ADD875D}"/>
                    </a:ext>
                  </a:extLst>
                </p:cNvPr>
                <p:cNvSpPr txBox="1"/>
                <p:nvPr/>
              </p:nvSpPr>
              <p:spPr>
                <a:xfrm>
                  <a:off x="102760" y="2653574"/>
                  <a:ext cx="8261570" cy="73379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TW" altLang="en-US" sz="200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d>
                          <m:d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zh-TW" altLang="en-US" sz="2000" i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zh-TW" altLang="en-US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  <m:d>
                              <m:dPr>
                                <m:ctrlPr>
                                  <a:rPr lang="zh-TW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TW" alt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zh-TW" altLang="en-US" sz="2000" i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zh-TW" altLang="en-US" sz="20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d>
                              <m:dPr>
                                <m:ctrlPr>
                                  <a:rPr lang="zh-TW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zh-TW" alt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num>
                          <m:den>
                            <m:func>
                              <m:funcPr>
                                <m:ctrlPr>
                                  <a:rPr lang="zh-TW" alt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zh-TW" altLang="en-US" sz="2000" i="0">
                                    <a:latin typeface="Cambria Math" panose="02040503050406030204" pitchFamily="18" charset="0"/>
                                  </a:rPr>
                                  <m:t>max</m:t>
                                </m:r>
                              </m:fName>
                              <m:e>
                                <m:d>
                                  <m:dPr>
                                    <m:begChr m:val="{"/>
                                    <m:endChr m:val="}"/>
                                    <m:ctrlP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d>
                                      <m:d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  <m:r>
                                      <a:rPr lang="zh-TW" altLang="en-US" sz="2000" i="0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zh-TW" altLang="en-US" sz="2000" i="1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d>
                                      <m:dPr>
                                        <m:ctrlP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zh-TW" altLang="en-US" sz="20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</m:func>
                          </m:den>
                        </m:f>
                      </m:oMath>
                    </m:oMathPara>
                  </a14:m>
                  <a:endParaRPr lang="zh-TW" altLang="en-US" sz="2000" dirty="0"/>
                </a:p>
              </p:txBody>
            </p:sp>
          </mc:Choice>
          <mc:Fallback xmlns="">
            <p:sp>
              <p:nvSpPr>
                <p:cNvPr id="3" name="文字方塊 2">
                  <a:extLst>
                    <a:ext uri="{FF2B5EF4-FFF2-40B4-BE49-F238E27FC236}">
                      <a16:creationId xmlns:a16="http://schemas.microsoft.com/office/drawing/2014/main" id="{598DDCA2-8818-64AD-6B1C-B28B4ADD87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760" y="2653574"/>
                  <a:ext cx="8261570" cy="733791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F7D6FE2A-E1C6-588B-1899-EF0B8D877E5A}"/>
                    </a:ext>
                  </a:extLst>
                </p:cNvPr>
                <p:cNvSpPr txBox="1"/>
                <p:nvPr/>
              </p:nvSpPr>
              <p:spPr>
                <a:xfrm>
                  <a:off x="-676910" y="3414724"/>
                  <a:ext cx="9851390" cy="88036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>
                    <a:lnSpc>
                      <a:spcPct val="115000"/>
                    </a:lnSpc>
                    <a:spcAft>
                      <a:spcPts val="800"/>
                    </a:spcAft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kern="100" smtClean="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𝑎</m:t>
                      </m:r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</m:oMath>
                  </a14:m>
                  <a:r>
                    <a:rPr lang="en-US" altLang="zh-TW" sz="2000" kern="100" dirty="0"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:</a:t>
                  </a:r>
                  <a:r>
                    <a:rPr lang="en-US" altLang="zh-TW" sz="2000" kern="100" dirty="0">
                      <a:effectLst/>
                      <a:latin typeface="Calibri" panose="020F0502020204030204" pitchFamily="34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zh-TW" sz="2000" kern="100" dirty="0"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the average distance from point </a:t>
                  </a:r>
                  <a14:m>
                    <m:oMath xmlns:m="http://schemas.openxmlformats.org/officeDocument/2006/math"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𝑖</m:t>
                      </m:r>
                    </m:oMath>
                  </a14:m>
                  <a:r>
                    <a:rPr lang="en-US" altLang="zh-TW" sz="2000" kern="100" dirty="0"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 to other points in the same cluster.</a:t>
                  </a:r>
                  <a:endParaRPr lang="zh-TW" altLang="zh-TW" sz="2000" kern="100" dirty="0">
                    <a:effectLst/>
                    <a:latin typeface="Calibri" panose="020F050202020403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  <a:p>
                  <a:pPr algn="ctr">
                    <a:lnSpc>
                      <a:spcPct val="115000"/>
                    </a:lnSpc>
                    <a:spcAft>
                      <a:spcPts val="800"/>
                    </a:spcAft>
                    <a:buNone/>
                  </a:pPr>
                  <a14:m>
                    <m:oMath xmlns:m="http://schemas.openxmlformats.org/officeDocument/2006/math"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𝑏</m:t>
                      </m:r>
                      <m:d>
                        <m:dPr>
                          <m:ctrlPr>
                            <a:rPr lang="zh-TW" altLang="zh-TW" sz="20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sz="2000" i="1" kern="100">
                              <a:effectLst/>
                              <a:latin typeface="Cambria Math" panose="02040503050406030204" pitchFamily="18" charset="0"/>
                              <a:ea typeface="新細明體" panose="02020500000000000000" pitchFamily="18" charset="-120"/>
                              <a:cs typeface="Times New Roman" panose="02020603050405020304" pitchFamily="18" charset="0"/>
                            </a:rPr>
                            <m:t>𝑖</m:t>
                          </m:r>
                        </m:e>
                      </m:d>
                    </m:oMath>
                  </a14:m>
                  <a:r>
                    <a:rPr lang="en-US" altLang="zh-TW" sz="2000" kern="100" dirty="0"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: the average distance from point </a:t>
                  </a:r>
                  <a14:m>
                    <m:oMath xmlns:m="http://schemas.openxmlformats.org/officeDocument/2006/math">
                      <m:r>
                        <a:rPr lang="en-US" altLang="zh-TW" sz="2000" i="1" kern="100">
                          <a:effectLst/>
                          <a:latin typeface="Cambria Math" panose="020405030504060302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m:t>𝑖</m:t>
                      </m:r>
                    </m:oMath>
                  </a14:m>
                  <a:r>
                    <a:rPr lang="en-US" altLang="zh-TW" sz="2000" kern="100" dirty="0">
                      <a:effectLst/>
                      <a:latin typeface="Times New Roman" panose="02020603050405020304" pitchFamily="18" charset="0"/>
                      <a:ea typeface="新細明體" panose="02020500000000000000" pitchFamily="18" charset="-120"/>
                      <a:cs typeface="Times New Roman" panose="02020603050405020304" pitchFamily="18" charset="0"/>
                    </a:rPr>
                    <a:t> to the closest different cluster.</a:t>
                  </a:r>
                  <a:endParaRPr lang="zh-TW" altLang="zh-TW" sz="2000" kern="100" dirty="0">
                    <a:effectLst/>
                    <a:latin typeface="Calibri" panose="020F0502020204030204" pitchFamily="34" charset="0"/>
                    <a:ea typeface="新細明體" panose="02020500000000000000" pitchFamily="18" charset="-12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F7D6FE2A-E1C6-588B-1899-EF0B8D877E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76910" y="3414724"/>
                  <a:ext cx="9851390" cy="880369"/>
                </a:xfrm>
                <a:prstGeom prst="rect">
                  <a:avLst/>
                </a:prstGeom>
                <a:blipFill>
                  <a:blip r:embed="rId4"/>
                  <a:stretch>
                    <a:fillRect t="-1379" b="-10345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69DD22C-2A1F-C1C0-9B56-76F1005A7406}"/>
                  </a:ext>
                </a:extLst>
              </p:cNvPr>
              <p:cNvSpPr txBox="1"/>
              <p:nvPr/>
            </p:nvSpPr>
            <p:spPr>
              <a:xfrm>
                <a:off x="4330594" y="2285542"/>
                <a:ext cx="4109932" cy="12685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TW" altLang="en-US" sz="2800" i="1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zh-TW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TW" altLang="en-US" sz="2800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TW" altLang="en-US" sz="28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TW" altLang="en-US" sz="2800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zh-TW" altLang="en-US" sz="2800" i="1">
                              <a:latin typeface="Cambria Math" panose="02040503050406030204" pitchFamily="18" charset="0"/>
                            </a:rPr>
                            <m:t>𝑠</m:t>
                          </m:r>
                          <m:d>
                            <m:dPr>
                              <m:ctrlP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zh-TW" altLang="en-US" sz="28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zh-TW" altLang="en-US" sz="2800" dirty="0"/>
              </a:p>
            </p:txBody>
          </p:sp>
        </mc:Choice>
        <mc:Fallback xmlns="">
          <p:sp>
            <p:nvSpPr>
              <p:cNvPr id="11" name="文字方塊 10">
                <a:extLst>
                  <a:ext uri="{FF2B5EF4-FFF2-40B4-BE49-F238E27FC236}">
                    <a16:creationId xmlns:a16="http://schemas.microsoft.com/office/drawing/2014/main" id="{169DD22C-2A1F-C1C0-9B56-76F1005A74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0594" y="2285542"/>
                <a:ext cx="4109932" cy="126855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矩形 11">
            <a:extLst>
              <a:ext uri="{FF2B5EF4-FFF2-40B4-BE49-F238E27FC236}">
                <a16:creationId xmlns:a16="http://schemas.microsoft.com/office/drawing/2014/main" id="{09B41C05-B026-0F2A-F6A2-1D6B1D216A30}"/>
              </a:ext>
            </a:extLst>
          </p:cNvPr>
          <p:cNvSpPr/>
          <p:nvPr/>
        </p:nvSpPr>
        <p:spPr>
          <a:xfrm>
            <a:off x="5034280" y="2285542"/>
            <a:ext cx="2672080" cy="1295911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0799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E8809-CA00-D402-A974-960576F35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圖片 11">
            <a:extLst>
              <a:ext uri="{FF2B5EF4-FFF2-40B4-BE49-F238E27FC236}">
                <a16:creationId xmlns:a16="http://schemas.microsoft.com/office/drawing/2014/main" id="{8052D1D6-1DB9-5A14-D723-AA0E1A82B3D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91"/>
          <a:stretch>
            <a:fillRect/>
          </a:stretch>
        </p:blipFill>
        <p:spPr bwMode="auto">
          <a:xfrm>
            <a:off x="6361835" y="1498572"/>
            <a:ext cx="5536953" cy="535942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6E71622-7CE3-A99A-CE0E-F556CC6D0E52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AF00117-163E-C45E-D87C-06A2716A65EA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A520679-EE76-F06B-4F01-3D2798FD5EA6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953217E-A8BC-8BAE-020B-6A1ACE78F6DB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1A948F9-A8AE-2920-8C55-1F6F66839517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F5D8DD8-B7B2-17DD-DD70-2D7669AC7BB0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38D4E22F-B383-BB0F-BB04-F48186E0185B}"/>
              </a:ext>
            </a:extLst>
          </p:cNvPr>
          <p:cNvSpPr txBox="1"/>
          <p:nvPr/>
        </p:nvSpPr>
        <p:spPr>
          <a:xfrm>
            <a:off x="686189" y="1004166"/>
            <a:ext cx="371094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K-means after PCA</a:t>
            </a:r>
            <a:endParaRPr lang="zh-TW" altLang="en-US" sz="32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74E08FD-2B6F-D4AA-5046-C263E46EE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3213696"/>
              </p:ext>
            </p:extLst>
          </p:nvPr>
        </p:nvGraphicFramePr>
        <p:xfrm>
          <a:off x="686189" y="1774600"/>
          <a:ext cx="7284080" cy="859188"/>
        </p:xfrm>
        <a:graphic>
          <a:graphicData uri="http://schemas.openxmlformats.org/drawingml/2006/table">
            <a:tbl>
              <a:tblPr firstRow="1" firstCol="1" bandRow="1"/>
              <a:tblGrid>
                <a:gridCol w="728408">
                  <a:extLst>
                    <a:ext uri="{9D8B030D-6E8A-4147-A177-3AD203B41FA5}">
                      <a16:colId xmlns:a16="http://schemas.microsoft.com/office/drawing/2014/main" val="2263201674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2807443017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4000658682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793504749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1852062669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1464756327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2072728625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2039408275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924943116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995762970"/>
                    </a:ext>
                  </a:extLst>
                </a:gridCol>
              </a:tblGrid>
              <a:tr h="4295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k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72611"/>
                  </a:ext>
                </a:extLst>
              </a:tr>
              <a:tr h="4295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score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0.932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0.924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0.925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0.563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0.510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0.514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0.518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0.520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0.520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0279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3BFB3C97-3D86-80AA-9F66-3FB85759A6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0327582"/>
              </p:ext>
            </p:extLst>
          </p:nvPr>
        </p:nvGraphicFramePr>
        <p:xfrm>
          <a:off x="686188" y="2953555"/>
          <a:ext cx="3997572" cy="859188"/>
        </p:xfrm>
        <a:graphic>
          <a:graphicData uri="http://schemas.openxmlformats.org/drawingml/2006/table">
            <a:tbl>
              <a:tblPr firstRow="1" firstCol="1" bandRow="1"/>
              <a:tblGrid>
                <a:gridCol w="1588440">
                  <a:extLst>
                    <a:ext uri="{9D8B030D-6E8A-4147-A177-3AD203B41FA5}">
                      <a16:colId xmlns:a16="http://schemas.microsoft.com/office/drawing/2014/main" val="2726613693"/>
                    </a:ext>
                  </a:extLst>
                </a:gridCol>
                <a:gridCol w="803044">
                  <a:extLst>
                    <a:ext uri="{9D8B030D-6E8A-4147-A177-3AD203B41FA5}">
                      <a16:colId xmlns:a16="http://schemas.microsoft.com/office/drawing/2014/main" val="4263448066"/>
                    </a:ext>
                  </a:extLst>
                </a:gridCol>
                <a:gridCol w="803044">
                  <a:extLst>
                    <a:ext uri="{9D8B030D-6E8A-4147-A177-3AD203B41FA5}">
                      <a16:colId xmlns:a16="http://schemas.microsoft.com/office/drawing/2014/main" val="2578844013"/>
                    </a:ext>
                  </a:extLst>
                </a:gridCol>
                <a:gridCol w="803044">
                  <a:extLst>
                    <a:ext uri="{9D8B030D-6E8A-4147-A177-3AD203B41FA5}">
                      <a16:colId xmlns:a16="http://schemas.microsoft.com/office/drawing/2014/main" val="3177779931"/>
                    </a:ext>
                  </a:extLst>
                </a:gridCol>
              </a:tblGrid>
              <a:tr h="4295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Cluster ID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323120"/>
                  </a:ext>
                </a:extLst>
              </a:tr>
              <a:tr h="4295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Quantity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4320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18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492920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A309A7DD-D21E-54C2-080A-F9D1B1FF49DC}"/>
              </a:ext>
            </a:extLst>
          </p:cNvPr>
          <p:cNvSpPr/>
          <p:nvPr/>
        </p:nvSpPr>
        <p:spPr>
          <a:xfrm>
            <a:off x="2062480" y="1686560"/>
            <a:ext cx="883920" cy="102616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72995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4B4E4-2215-43D4-C6DD-5A63ED5D6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8FC6BAA-898C-ACE5-88B2-9D003B8DAE8B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2B5F529-528A-1C4F-8286-AC6B9575BB5E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A6C575-0B2E-CD3C-9FED-EA1896D5AFDC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82BE064-BB23-0CA5-2FA8-CA33469BFD44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AB1030-E886-C3C3-77CB-8415D043DFEA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8700F76-2A15-8622-C3A6-FD3A01AA5FC0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29B7A1D-8856-A1ED-333F-9FD88E8C3815}"/>
              </a:ext>
            </a:extLst>
          </p:cNvPr>
          <p:cNvSpPr txBox="1"/>
          <p:nvPr/>
        </p:nvSpPr>
        <p:spPr>
          <a:xfrm>
            <a:off x="3685735" y="2079493"/>
            <a:ext cx="482053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K-means without PCA</a:t>
            </a:r>
            <a:endParaRPr lang="zh-TW" altLang="en-US" sz="32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A5C20F1-121B-0092-7CE1-69EC23C29B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8193915"/>
              </p:ext>
            </p:extLst>
          </p:nvPr>
        </p:nvGraphicFramePr>
        <p:xfrm>
          <a:off x="2297959" y="2871551"/>
          <a:ext cx="7284080" cy="859188"/>
        </p:xfrm>
        <a:graphic>
          <a:graphicData uri="http://schemas.openxmlformats.org/drawingml/2006/table">
            <a:tbl>
              <a:tblPr firstRow="1" firstCol="1" bandRow="1"/>
              <a:tblGrid>
                <a:gridCol w="728408">
                  <a:extLst>
                    <a:ext uri="{9D8B030D-6E8A-4147-A177-3AD203B41FA5}">
                      <a16:colId xmlns:a16="http://schemas.microsoft.com/office/drawing/2014/main" val="2263201674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2807443017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4000658682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793504749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1852062669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1464756327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2072728625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2039408275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924943116"/>
                    </a:ext>
                  </a:extLst>
                </a:gridCol>
                <a:gridCol w="728408">
                  <a:extLst>
                    <a:ext uri="{9D8B030D-6E8A-4147-A177-3AD203B41FA5}">
                      <a16:colId xmlns:a16="http://schemas.microsoft.com/office/drawing/2014/main" val="995762970"/>
                    </a:ext>
                  </a:extLst>
                </a:gridCol>
              </a:tblGrid>
              <a:tr h="4295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k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5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8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9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10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1372611"/>
                  </a:ext>
                </a:extLst>
              </a:tr>
              <a:tr h="4295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score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0.446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0.470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0.466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0.466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0.466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0.510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0.470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0.502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0.399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502798"/>
                  </a:ext>
                </a:extLst>
              </a:tr>
            </a:tbl>
          </a:graphicData>
        </a:graphic>
      </p:graphicFrame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2AFFD292-7DED-CF66-6DD4-C7F2907FB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3959843"/>
              </p:ext>
            </p:extLst>
          </p:nvPr>
        </p:nvGraphicFramePr>
        <p:xfrm>
          <a:off x="4097214" y="3969555"/>
          <a:ext cx="3997572" cy="859188"/>
        </p:xfrm>
        <a:graphic>
          <a:graphicData uri="http://schemas.openxmlformats.org/drawingml/2006/table">
            <a:tbl>
              <a:tblPr firstRow="1" firstCol="1" bandRow="1"/>
              <a:tblGrid>
                <a:gridCol w="1588440">
                  <a:extLst>
                    <a:ext uri="{9D8B030D-6E8A-4147-A177-3AD203B41FA5}">
                      <a16:colId xmlns:a16="http://schemas.microsoft.com/office/drawing/2014/main" val="2726613693"/>
                    </a:ext>
                  </a:extLst>
                </a:gridCol>
                <a:gridCol w="803044">
                  <a:extLst>
                    <a:ext uri="{9D8B030D-6E8A-4147-A177-3AD203B41FA5}">
                      <a16:colId xmlns:a16="http://schemas.microsoft.com/office/drawing/2014/main" val="4263448066"/>
                    </a:ext>
                  </a:extLst>
                </a:gridCol>
                <a:gridCol w="803044">
                  <a:extLst>
                    <a:ext uri="{9D8B030D-6E8A-4147-A177-3AD203B41FA5}">
                      <a16:colId xmlns:a16="http://schemas.microsoft.com/office/drawing/2014/main" val="2578844013"/>
                    </a:ext>
                  </a:extLst>
                </a:gridCol>
                <a:gridCol w="803044">
                  <a:extLst>
                    <a:ext uri="{9D8B030D-6E8A-4147-A177-3AD203B41FA5}">
                      <a16:colId xmlns:a16="http://schemas.microsoft.com/office/drawing/2014/main" val="3177779931"/>
                    </a:ext>
                  </a:extLst>
                </a:gridCol>
              </a:tblGrid>
              <a:tr h="4295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Cluster ID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2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323120"/>
                  </a:ext>
                </a:extLst>
              </a:tr>
              <a:tr h="42959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Quantity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3180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1140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18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492920"/>
                  </a:ext>
                </a:extLst>
              </a:tr>
            </a:tbl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F1FCC336-AAB7-7E77-5BB9-834CDBFAED56}"/>
              </a:ext>
            </a:extLst>
          </p:cNvPr>
          <p:cNvSpPr/>
          <p:nvPr/>
        </p:nvSpPr>
        <p:spPr>
          <a:xfrm>
            <a:off x="3674250" y="2783511"/>
            <a:ext cx="883920" cy="1026160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64138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0CABE6-7D51-5742-7CFD-855E976B2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3DC3C6C-34E0-566B-512D-A7EE0992B1B0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82BB5BB-E829-BAE7-1F49-358A88E16432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D1E4F6E-5830-BE97-7141-7BE032126A9B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963419E-9867-9452-1308-E7F7AE9C5144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3F266AB-4F5E-5BB6-6485-DCBBE3A0C377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323C35F-93C4-501C-106C-A1EE8891F4BF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857DC1F8-8D01-46C3-9A83-47D5DA7B2E2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3647" y="793380"/>
            <a:ext cx="9124386" cy="606462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43D3A2B-7584-59F7-1BA9-1F94401145E4}"/>
              </a:ext>
            </a:extLst>
          </p:cNvPr>
          <p:cNvSpPr txBox="1"/>
          <p:nvPr/>
        </p:nvSpPr>
        <p:spPr>
          <a:xfrm>
            <a:off x="1898719" y="922774"/>
            <a:ext cx="21125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Recency</a:t>
            </a:r>
            <a:endParaRPr lang="zh-TW" altLang="en-US" sz="2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E81BE2C-80D7-86D4-CB53-551685B1540A}"/>
              </a:ext>
            </a:extLst>
          </p:cNvPr>
          <p:cNvSpPr txBox="1"/>
          <p:nvPr/>
        </p:nvSpPr>
        <p:spPr>
          <a:xfrm>
            <a:off x="3991680" y="912614"/>
            <a:ext cx="325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Frequency</a:t>
            </a:r>
            <a:endParaRPr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CEC7971-95DE-811D-0C95-419D2ACA169A}"/>
              </a:ext>
            </a:extLst>
          </p:cNvPr>
          <p:cNvSpPr txBox="1"/>
          <p:nvPr/>
        </p:nvSpPr>
        <p:spPr>
          <a:xfrm>
            <a:off x="7682864" y="922774"/>
            <a:ext cx="1867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Monetary</a:t>
            </a:r>
            <a:endParaRPr lang="zh-TW" altLang="en-US" sz="2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C28D1EA4-2A07-EE1A-220B-7110267BDCD4}"/>
              </a:ext>
            </a:extLst>
          </p:cNvPr>
          <p:cNvSpPr txBox="1"/>
          <p:nvPr/>
        </p:nvSpPr>
        <p:spPr>
          <a:xfrm>
            <a:off x="1746320" y="3921016"/>
            <a:ext cx="159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Unit Price</a:t>
            </a:r>
            <a:endParaRPr lang="zh-TW" altLang="en-US" sz="2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1C705A1A-C0D3-1C99-1D68-99B541D5B8BE}"/>
              </a:ext>
            </a:extLst>
          </p:cNvPr>
          <p:cNvSpPr txBox="1"/>
          <p:nvPr/>
        </p:nvSpPr>
        <p:spPr>
          <a:xfrm>
            <a:off x="4624880" y="3921016"/>
            <a:ext cx="2283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Unique Items</a:t>
            </a:r>
            <a:endParaRPr lang="zh-TW" altLang="en-US" sz="2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3C247BB6-C94C-EAD1-5055-90195B583A48}"/>
              </a:ext>
            </a:extLst>
          </p:cNvPr>
          <p:cNvSpPr txBox="1"/>
          <p:nvPr/>
        </p:nvSpPr>
        <p:spPr>
          <a:xfrm>
            <a:off x="7997824" y="3921016"/>
            <a:ext cx="2283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Quantity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9791568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1E85B5-8E69-62D9-CDCE-1185BE3FF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657AA613-E11F-5CA9-E4A8-B66CA4DF0A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129" y="761520"/>
            <a:ext cx="9126461" cy="6066000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F6AF60D8-8843-FD59-1689-0D905BB6AE4A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58A4451-6651-B2F5-0EF4-1B92D73CCC08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3366881-8A48-DA89-5079-7E286D6D7C38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6485122-31E3-AE65-6F11-24F26F89B16E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823A46-2D55-1E6E-A938-C0B58691D8AD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6D3711C-32AC-1714-3D90-2F2546043A66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104F546-14CC-7D8F-6163-4F45AA40C832}"/>
              </a:ext>
            </a:extLst>
          </p:cNvPr>
          <p:cNvSpPr txBox="1"/>
          <p:nvPr/>
        </p:nvSpPr>
        <p:spPr>
          <a:xfrm>
            <a:off x="1898719" y="871974"/>
            <a:ext cx="211257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Recency</a:t>
            </a:r>
            <a:endParaRPr lang="zh-TW" altLang="en-US" sz="2000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B139B46-70E3-0C65-731E-1CF987ED5E9E}"/>
              </a:ext>
            </a:extLst>
          </p:cNvPr>
          <p:cNvSpPr txBox="1"/>
          <p:nvPr/>
        </p:nvSpPr>
        <p:spPr>
          <a:xfrm>
            <a:off x="3991680" y="861814"/>
            <a:ext cx="32524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Frequency</a:t>
            </a:r>
            <a:endParaRPr lang="zh-TW" altLang="en-US" sz="2000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90CB7B0F-0352-EC40-EEE8-DCA4F073F46D}"/>
              </a:ext>
            </a:extLst>
          </p:cNvPr>
          <p:cNvSpPr txBox="1"/>
          <p:nvPr/>
        </p:nvSpPr>
        <p:spPr>
          <a:xfrm>
            <a:off x="7682864" y="871974"/>
            <a:ext cx="1867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Monetary</a:t>
            </a:r>
            <a:endParaRPr lang="zh-TW" altLang="en-US" sz="2000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E4D2C8E-E66D-B1F1-4D68-D09021C077EC}"/>
              </a:ext>
            </a:extLst>
          </p:cNvPr>
          <p:cNvSpPr txBox="1"/>
          <p:nvPr/>
        </p:nvSpPr>
        <p:spPr>
          <a:xfrm>
            <a:off x="1746320" y="3870216"/>
            <a:ext cx="15963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Unit Price</a:t>
            </a:r>
            <a:endParaRPr lang="zh-TW" altLang="en-US" sz="2000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45D9DCB-C873-0251-BDC2-E94200286CF8}"/>
              </a:ext>
            </a:extLst>
          </p:cNvPr>
          <p:cNvSpPr txBox="1"/>
          <p:nvPr/>
        </p:nvSpPr>
        <p:spPr>
          <a:xfrm>
            <a:off x="4624880" y="3870216"/>
            <a:ext cx="2283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Unique Items</a:t>
            </a:r>
            <a:endParaRPr lang="zh-TW" altLang="en-US" sz="20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1470014F-76B3-9395-E2DA-224D1B1BC4FE}"/>
              </a:ext>
            </a:extLst>
          </p:cNvPr>
          <p:cNvSpPr txBox="1"/>
          <p:nvPr/>
        </p:nvSpPr>
        <p:spPr>
          <a:xfrm>
            <a:off x="7997824" y="3870216"/>
            <a:ext cx="22839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Quantity</a:t>
            </a:r>
            <a:endParaRPr lang="zh-TW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806965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D7F021-F693-6A42-5ED6-43F89E14C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E36F4DB-F20D-105E-6276-4352C01FFA5D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77A1B1E-6463-4734-B7C0-7265300F07A7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726D501-9A37-B7DA-6226-9A533229441A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DDDCB08-4A4A-852F-0296-73304F7506C3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3193E47-9B5B-E6E7-6322-50902AD5E18A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9FC5071-3C89-E2E4-4377-9BE072E0551B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71AE186E-DC02-42A1-00D5-80AB6ED40677}"/>
              </a:ext>
            </a:extLst>
          </p:cNvPr>
          <p:cNvSpPr txBox="1"/>
          <p:nvPr/>
        </p:nvSpPr>
        <p:spPr>
          <a:xfrm>
            <a:off x="1463069" y="2356156"/>
            <a:ext cx="538180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ea typeface="新細明體" panose="02020500000000000000" pitchFamily="18" charset="-120"/>
              </a:rPr>
              <a:t>Label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C1: Regular shoppers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C2: Inactive low-value shoppers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C3: High-value bulk buyers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</a:endParaRPr>
          </a:p>
          <a:p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	</a:t>
            </a:r>
            <a:endParaRPr lang="zh-TW" altLang="en-US" sz="24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FF029F3A-1A70-1710-5655-082CD5FFFD81}"/>
              </a:ext>
            </a:extLst>
          </p:cNvPr>
          <p:cNvSpPr txBox="1"/>
          <p:nvPr/>
        </p:nvSpPr>
        <p:spPr>
          <a:xfrm>
            <a:off x="6349574" y="2356157"/>
            <a:ext cx="5699551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Clustering Quality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k=3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4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Silhouette score = 0.470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4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Sizes (3181, 1140, 18)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The boxplots show clear differences</a:t>
            </a:r>
            <a:r>
              <a:rPr lang="zh-TW" altLang="en-US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</a:rPr>
              <a:t>across three groups</a:t>
            </a:r>
            <a:endParaRPr lang="en-US" altLang="zh-TW" sz="2400" dirty="0">
              <a:effectLst/>
              <a:latin typeface="Times New Roman" panose="02020603050405020304" pitchFamily="18" charset="0"/>
              <a:ea typeface="新細明體" panose="02020500000000000000" pitchFamily="18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7631173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266D6-A9A8-A80A-3218-2C390097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1846604A-C3EE-6023-94E0-CAA60D2B51BA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FAA9DAD-855D-CBEA-4450-CA5F0BE5C6F4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AABD493-A1EC-AB2F-DB10-51A8B115304C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FB1FD0-972E-A99B-4F0F-DF8AF2AB097A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53D5CC2-3D0B-C4AF-11C9-075241A0A0EB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16B289-E5AD-BFDA-7071-0855172F26DE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EC72B3C-98C3-B911-800D-DFBD1B444D2F}"/>
                  </a:ext>
                </a:extLst>
              </p:cNvPr>
              <p:cNvSpPr txBox="1"/>
              <p:nvPr/>
            </p:nvSpPr>
            <p:spPr>
              <a:xfrm>
                <a:off x="1502178" y="994081"/>
                <a:ext cx="9187644" cy="556177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LDA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Assumption: </a:t>
                </a:r>
                <a:endParaRPr lang="en-US" altLang="zh-TW" sz="2000" i="1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e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 lang="zh-TW" altLang="zh-TW" sz="2000">
                          <a:latin typeface="Cambria Math" panose="02040503050406030204" pitchFamily="18" charset="0"/>
                        </a:rPr>
                        <m:t>Σ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TW" sz="2400" dirty="0">
                  <a:latin typeface="Times New Roman" panose="02020603050405020304" pitchFamily="18" charset="0"/>
                  <a:ea typeface="新細明體" panose="02020500000000000000" pitchFamily="18" charset="-12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Discrimination function: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en-US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zh-TW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TW" altLang="zh-TW" sz="20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sz="20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000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zh-TW" sz="2000" i="1" dirty="0"/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m:rPr>
                          <m:aln/>
                        </m:rP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⃑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acc>
                        <m:accPr>
                          <m:chr m:val="⃑"/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  <m:oMath xmlns:m="http://schemas.openxmlformats.org/officeDocument/2006/math"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TW" altLang="zh-TW" sz="20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,   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=−</m:t>
                      </m:r>
                      <m:f>
                        <m:f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bSup>
                        <m:sSub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⃑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  <m:sSup>
                        <m:s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TW" altLang="zh-TW" sz="2000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</m:acc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altLang="zh-TW" sz="2000">
                          <a:latin typeface="Cambria Math" panose="02040503050406030204" pitchFamily="18" charset="0"/>
                        </a:rPr>
                        <m:t>ln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0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zh-TW" sz="2000" dirty="0"/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Decision boundary: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acc>
                            <m:accPr>
                              <m:chr m:val="⃑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</m:acc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⃑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acc>
                        <m:accPr>
                          <m:chr m:val="⃑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ac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zh-TW" altLang="zh-TW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 </m:t>
                      </m:r>
                      <m:acc>
                        <m:accPr>
                          <m:chr m:val="⃑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zh-TW" altLang="zh-TW">
                              <a:latin typeface="Cambria Math" panose="02040503050406030204" pitchFamily="18" charset="0"/>
                            </a:rPr>
                            <m:t>Σ</m:t>
                          </m:r>
                        </m:e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TW">
                              <a:latin typeface="Cambria Math" panose="02040503050406030204" pitchFamily="18" charset="0"/>
                            </a:rPr>
                            <m:t>ln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[</m:t>
                          </m:r>
                          <m:f>
                            <m:f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d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sSup>
                            <m:sSup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zh-TW" altLang="zh-TW">
                                  <a:latin typeface="Cambria Math" panose="02040503050406030204" pitchFamily="18" charset="0"/>
                                </a:rPr>
                                <m:t>Σ</m:t>
                              </m:r>
                            </m:e>
                            <m:sup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p>
                          </m:sSup>
                          <m:d>
                            <m:d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⃑"/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den>
                      </m:f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zh-TW" altLang="zh-TW" dirty="0"/>
              </a:p>
              <a:p>
                <a:pPr algn="ctr"/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DEC72B3C-98C3-B911-800D-DFBD1B444D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2178" y="994081"/>
                <a:ext cx="9187644" cy="5561779"/>
              </a:xfrm>
              <a:prstGeom prst="rect">
                <a:avLst/>
              </a:prstGeom>
              <a:blipFill>
                <a:blip r:embed="rId2"/>
                <a:stretch>
                  <a:fillRect l="-1658" t="-15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68198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CD2DB-63E8-F91C-FD3C-A8BE8553B1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95F7CFD-0B50-04A0-CA8D-B076DF5BB830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7071979-6C8D-B878-3790-2D49BE90C5E7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E53B24-14A1-E1B5-190C-A2A11B0E07E1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0B3EF73-8156-F242-7175-F73EA9DD6811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555ECB4-BA7B-C70D-1515-B91158986885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E4A5308-CB9B-CB85-01C4-274F2E3FD927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860E5944-F53F-6DC3-69F1-BCD97DB5EF65}"/>
                  </a:ext>
                </a:extLst>
              </p:cNvPr>
              <p:cNvSpPr txBox="1"/>
              <p:nvPr/>
            </p:nvSpPr>
            <p:spPr>
              <a:xfrm>
                <a:off x="2480481" y="1422706"/>
                <a:ext cx="7731519" cy="43574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KNN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={</m:t>
                      </m:r>
                      <m:d>
                        <m:d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⃑"/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,…,(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)}</m:t>
                      </m:r>
                    </m:oMath>
                  </m:oMathPara>
                </a14:m>
                <a:endParaRPr lang="zh-TW" altLang="zh-TW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∈</m:t>
                      </m:r>
                      <m:sSup>
                        <m:sSup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</m:sSup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𝑑𝑖𝑚𝑒𝑛𝑠𝑖𝑜𝑛𝑎𝑙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𝑓𝑒𝑎𝑡𝑢𝑟𝑒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𝑣𝑒𝑐𝑡𝑜𝑟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, </m:t>
                      </m:r>
                    </m:oMath>
                  </m:oMathPara>
                </a14:m>
                <a:endParaRPr lang="zh-TW" altLang="zh-TW" sz="240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{"/>
                          <m:endChr m:val="}"/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,…,</m:t>
                          </m:r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sub>
                          </m:sSub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𝑐𝑙𝑎𝑠𝑠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𝑙𝑎𝑏𝑒𝑙</m:t>
                      </m:r>
                    </m:oMath>
                  </m:oMathPara>
                </a14:m>
                <a:endParaRPr lang="en-US" altLang="zh-TW" sz="2400" dirty="0">
                  <a:latin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sz="24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𝑁</m:t>
                        </m:r>
                      </m:e>
                      <m:sub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altLang="zh-TW" sz="24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 denotes the set of the k nearest neighbors of </a:t>
                </a:r>
                <a14:m>
                  <m:oMath xmlns:m="http://schemas.openxmlformats.org/officeDocument/2006/math">
                    <m:acc>
                      <m:accPr>
                        <m:chr m:val="⃑"/>
                        <m:ctrlPr>
                          <a:rPr lang="zh-TW" altLang="zh-TW" sz="2400" i="1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zh-TW" sz="2400" i="1">
                            <a:effectLst/>
                            <a:latin typeface="Cambria Math" panose="02040503050406030204" pitchFamily="18" charset="0"/>
                            <a:ea typeface="新細明體" panose="02020500000000000000" pitchFamily="18" charset="-12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US" altLang="zh-TW" sz="24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,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4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then: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</m:acc>
                      <m:d>
                        <m:dPr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sz="2400" i="1">
                          <a:latin typeface="Cambria Math" panose="02040503050406030204" pitchFamily="18" charset="0"/>
                        </a:rPr>
                        <m:t>=</m:t>
                      </m:r>
                      <m:m>
                        <m:mPr>
                          <m:mcs>
                            <m:mc>
                              <m:mcPr>
                                <m:count m:val="1"/>
                                <m:mcJc m:val="center"/>
                              </m:mcPr>
                            </m:mc>
                          </m:mcs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mPr>
                        <m:mr>
                          <m:e>
                            <m:r>
                              <a:rPr lang="en-US" altLang="zh-TW" sz="2400" i="1">
                                <a:latin typeface="Cambria Math" panose="02040503050406030204" pitchFamily="18" charset="0"/>
                              </a:rPr>
                              <m:t>𝑎𝑟𝑔𝑚𝑎𝑥</m:t>
                            </m:r>
                          </m:e>
                        </m:mr>
                        <m:mr>
                          <m:e>
                            <m:sSub>
                              <m:sSubPr>
                                <m:ctrlPr>
                                  <a:rPr lang="zh-TW" altLang="zh-TW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𝜔</m:t>
                                </m:r>
                              </m:e>
                              <m:sub>
                                <m:r>
                                  <a:rPr lang="en-US" altLang="zh-TW" sz="2400" i="1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</m:e>
                        </m:mr>
                      </m:m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sz="2400" i="1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sub>
                        <m:sup/>
                        <m:e>
                          <m:sSub>
                            <m:sSubPr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{</m:t>
                              </m:r>
                              <m:sSub>
                                <m:sSub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zh-TW" altLang="zh-TW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𝜔</m:t>
                                  </m:r>
                                </m:e>
                                <m:sub>
                                  <m:r>
                                    <a:rPr lang="en-US" altLang="zh-TW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sub>
                              </m:sSub>
                              <m:r>
                                <a:rPr lang="en-US" altLang="zh-TW" sz="2400" i="1">
                                  <a:latin typeface="Cambria Math" panose="02040503050406030204" pitchFamily="18" charset="0"/>
                                </a:rPr>
                                <m:t>}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sz="2400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860E5944-F53F-6DC3-69F1-BCD97DB5EF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80481" y="1422706"/>
                <a:ext cx="7731519" cy="4357475"/>
              </a:xfrm>
              <a:prstGeom prst="rect">
                <a:avLst/>
              </a:prstGeom>
              <a:blipFill>
                <a:blip r:embed="rId2"/>
                <a:stretch>
                  <a:fillRect l="-2050" t="-195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74063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3FF1D-BCD9-6A82-C13E-EAE0F5945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D17AA39B-4C04-3119-480E-3CAFB915EA50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6318278-8731-07BE-FBDA-46B2E4C4817B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466ED8F-30DB-7A1B-AB8E-A22A34968533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CDE76AA-53B2-ECE2-51D7-6E5894C53BA6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4F6658E-52ED-861E-E9FB-43B2D2E5C7D7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7AC47FF-23AC-96C8-C418-92659E9D20CC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295D413-69F7-609E-7659-1624ECAF69FD}"/>
                  </a:ext>
                </a:extLst>
              </p:cNvPr>
              <p:cNvSpPr txBox="1"/>
              <p:nvPr/>
            </p:nvSpPr>
            <p:spPr>
              <a:xfrm>
                <a:off x="1980000" y="1660831"/>
                <a:ext cx="8501844" cy="38604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Naïve Gaussian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Assumption: All features are conditionally independent within the same classes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e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∏"/>
                          <m:limLoc m:val="undOvr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altLang="zh-TW" dirty="0"/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feature follows a one-dimensional normal distribution:</a:t>
                </a:r>
              </a:p>
              <a:p>
                <a:pPr algn="ctr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,</m:t>
                      </m:r>
                      <m:sSubSup>
                        <m:sSubSupPr>
                          <m:ctrlPr>
                            <a:rPr lang="zh-TW" altLang="zh-TW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  <m:sup>
                          <m:r>
                            <a:rPr lang="en-US" altLang="zh-TW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altLang="zh-TW" sz="20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TW" altLang="zh-TW" sz="2000" dirty="0"/>
              </a:p>
              <a:p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Discriminant function: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𝑔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d>
                        <m:d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𝑑</m:t>
                          </m:r>
                        </m:sup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[−</m:t>
                          </m:r>
                          <m:f>
                            <m:f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  <m:func>
                            <m:func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altLang="zh-TW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bSup>
                                    <m:sSubSupPr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</m:func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sSub>
                                    <m:sSubPr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zh-TW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sSubSup>
                                <m:sSubSupPr>
                                  <m:ctrlPr>
                                    <a:rPr lang="zh-TW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𝜎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  <m:sup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den>
                          </m:f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nary>
                    </m:oMath>
                  </m:oMathPara>
                </a14:m>
                <a:endParaRPr lang="zh-TW" altLang="zh-TW" dirty="0"/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6295D413-69F7-609E-7659-1624ECAF6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0000" y="1660831"/>
                <a:ext cx="8501844" cy="3860416"/>
              </a:xfrm>
              <a:prstGeom prst="rect">
                <a:avLst/>
              </a:prstGeom>
              <a:blipFill>
                <a:blip r:embed="rId2"/>
                <a:stretch>
                  <a:fillRect l="-1865" t="-22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8053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A9205-21D0-2F02-193A-63C8CD889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6AF9295-9815-DC6D-793F-4A1141898DD3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940C4B-0CC9-C6C0-706A-66C844607BC7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C74A40C-940E-A2F7-A500-3993BB393DA5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92DE3B6-F85B-B6A4-7CCC-C9C2F01BD68F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05A150D-B29E-C379-7C45-6C61250B028D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A2A9962-2ED9-E38C-78C4-53884D7541B2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82F7B12-C336-8054-9BBB-09B5864F0E18}"/>
                  </a:ext>
                </a:extLst>
              </p:cNvPr>
              <p:cNvSpPr txBox="1"/>
              <p:nvPr/>
            </p:nvSpPr>
            <p:spPr>
              <a:xfrm>
                <a:off x="1403326" y="984556"/>
                <a:ext cx="10064773" cy="59266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dirty="0">
                    <a:latin typeface="Times New Roman" panose="02020603050405020304" pitchFamily="18" charset="0"/>
                    <a:ea typeface="新細明體" panose="02020500000000000000" pitchFamily="18" charset="-120"/>
                  </a:rPr>
                  <a:t>Concepts &amp; Evaluation Basis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altLang="zh-TW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Correctly identifying the High-Value Bulk Buyers (C3) is the top priority, but C3 is minority.</a:t>
                </a:r>
                <a:endParaRPr lang="en-US" altLang="zh-TW" sz="2000" b="1" dirty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Confusion matrix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𝑎𝑖𝑖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</m:e>
                      <m: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zh-TW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zh-TW" altLang="zh-TW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𝑎𝑖𝑖</m:t>
                        </m:r>
                      </m:num>
                      <m:den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𝑖</m:t>
                        </m:r>
                      </m:den>
                    </m:f>
                  </m:oMath>
                </a14:m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)</a:t>
                </a:r>
              </a:p>
              <a:p>
                <a:pPr>
                  <a:lnSpc>
                    <a:spcPct val="150000"/>
                  </a:lnSpc>
                </a:pPr>
                <a:endParaRPr lang="en-US" altLang="zh-TW" sz="2000" dirty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TW" sz="2000" dirty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endParaRPr lang="en-US" altLang="zh-TW" sz="2000" dirty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Macro-average F1 score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𝑚𝑎𝑐𝑟𝑜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𝑤h𝑒𝑟𝑒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×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𝑃𝑟𝑒𝑐𝑖𝑠𝑖𝑜𝑛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×</m:t>
                          </m:r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𝑅𝑒𝑐𝑎𝑙𝑙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𝑃𝑟𝑒𝑐𝑖𝑠𝑖𝑜𝑛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𝑅𝑒𝑐𝑎𝑙𝑙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altLang="zh-TW" sz="2000" dirty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50000"/>
                  </a:lnSpc>
                  <a:buFont typeface="Wingdings" panose="05000000000000000000" pitchFamily="2" charset="2"/>
                  <a:buChar char="Ø"/>
                </a:pPr>
                <a:r>
                  <a:rPr lang="en-US" altLang="zh-TW" sz="2000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Balanced accuracy score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𝐵𝑎𝑙𝑎𝑛𝑐𝑒𝑑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𝐴𝑐𝑐𝑢𝑟𝑎𝑐𝑦</m:t>
                      </m:r>
                      <m:r>
                        <a:rPr lang="en-US" altLang="zh-TW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ctrlPr>
                            <a:rPr lang="zh-TW" altLang="zh-TW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  <m:e>
                          <m:sSub>
                            <m:sSubPr>
                              <m:ctrlPr>
                                <a:rPr lang="zh-TW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𝑅𝑒𝑐𝑎𝑙𝑙</m:t>
                              </m:r>
                            </m:e>
                            <m:sub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TW" altLang="zh-TW" dirty="0"/>
              </a:p>
              <a:p>
                <a:pPr algn="ctr">
                  <a:lnSpc>
                    <a:spcPct val="150000"/>
                  </a:lnSpc>
                </a:pPr>
                <a:endParaRPr lang="en-US" altLang="zh-TW" sz="2000" dirty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82F7B12-C336-8054-9BBB-09B5864F0E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03326" y="984556"/>
                <a:ext cx="10064773" cy="5926687"/>
              </a:xfrm>
              <a:prstGeom prst="rect">
                <a:avLst/>
              </a:prstGeom>
              <a:blipFill>
                <a:blip r:embed="rId2"/>
                <a:stretch>
                  <a:fillRect l="-1514" t="-144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DBD6EE4-5E5F-A0C3-2ECF-69F277FB9B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5113206"/>
              </p:ext>
            </p:extLst>
          </p:nvPr>
        </p:nvGraphicFramePr>
        <p:xfrm>
          <a:off x="3577218" y="2766035"/>
          <a:ext cx="4471406" cy="1181864"/>
        </p:xfrm>
        <a:graphic>
          <a:graphicData uri="http://schemas.openxmlformats.org/drawingml/2006/table">
            <a:tbl>
              <a:tblPr firstRow="1" firstCol="1" bandRow="1"/>
              <a:tblGrid>
                <a:gridCol w="1532192">
                  <a:extLst>
                    <a:ext uri="{9D8B030D-6E8A-4147-A177-3AD203B41FA5}">
                      <a16:colId xmlns:a16="http://schemas.microsoft.com/office/drawing/2014/main" val="469646502"/>
                    </a:ext>
                  </a:extLst>
                </a:gridCol>
                <a:gridCol w="979738">
                  <a:extLst>
                    <a:ext uri="{9D8B030D-6E8A-4147-A177-3AD203B41FA5}">
                      <a16:colId xmlns:a16="http://schemas.microsoft.com/office/drawing/2014/main" val="1399415439"/>
                    </a:ext>
                  </a:extLst>
                </a:gridCol>
                <a:gridCol w="979738">
                  <a:extLst>
                    <a:ext uri="{9D8B030D-6E8A-4147-A177-3AD203B41FA5}">
                      <a16:colId xmlns:a16="http://schemas.microsoft.com/office/drawing/2014/main" val="196912517"/>
                    </a:ext>
                  </a:extLst>
                </a:gridCol>
                <a:gridCol w="979738">
                  <a:extLst>
                    <a:ext uri="{9D8B030D-6E8A-4147-A177-3AD203B41FA5}">
                      <a16:colId xmlns:a16="http://schemas.microsoft.com/office/drawing/2014/main" val="3526202011"/>
                    </a:ext>
                  </a:extLst>
                </a:gridCol>
              </a:tblGrid>
              <a:tr h="2905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Actual \ Pred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Pred C1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Pred C2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Pred C3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2026072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Actual C1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a11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a12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a13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1644994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Actual C2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a21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a22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a23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63985558"/>
                  </a:ext>
                </a:extLst>
              </a:tr>
              <a:tr h="290513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Actual C3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a31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a32</a:t>
                      </a:r>
                      <a:endParaRPr lang="zh-TW" sz="18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8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a33</a:t>
                      </a:r>
                      <a:endParaRPr lang="zh-TW" sz="18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6835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724465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70AE50-1EA9-A410-A3B5-6DAB4C607D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B2992289-F4BA-A594-4550-DC592E545C49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3BAEC7F-7B30-A5A5-651C-9CCEED30B2ED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933FB69-C2D5-5D42-B040-B56025CDC590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FA33E0B-CB49-C404-9821-61F9AF12751A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30AA6D3-AD97-2F4D-A8BD-0A9581BE3897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1139D6C-D4EA-D894-B279-97994B13D447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0C184824-B971-1904-D26B-236A05C5442B}"/>
                  </a:ext>
                </a:extLst>
              </p:cNvPr>
              <p:cNvSpPr txBox="1"/>
              <p:nvPr/>
            </p:nvSpPr>
            <p:spPr>
              <a:xfrm>
                <a:off x="1266224" y="1022656"/>
                <a:ext cx="10316175" cy="25891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Results of LDA </a:t>
                </a:r>
                <a:r>
                  <a:rPr lang="en-US" altLang="zh-TW" sz="2800" b="1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(60% training 40% testing)</a:t>
                </a:r>
              </a:p>
              <a:p>
                <a:pPr marL="342900" indent="-342900" algn="just">
                  <a:lnSpc>
                    <a:spcPct val="115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Confusion matrix: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4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1269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 42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 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414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400" i="1" kern="100">
                                        <a:effectLst/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 0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 kern="100">
                                          <a:effectLst/>
                                          <a:latin typeface="Cambria Math" panose="02040503050406030204" pitchFamily="18" charset="0"/>
                                          <a:ea typeface="新細明體" panose="02020500000000000000" pitchFamily="18" charset="-120"/>
                                          <a:cs typeface="Times New Roman" panose="02020603050405020304" pitchFamily="18" charset="0"/>
                                        </a:rPr>
                                        <m:t>7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15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Classification report: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0C184824-B971-1904-D26B-236A05C544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224" y="1022656"/>
                <a:ext cx="10316175" cy="2589170"/>
              </a:xfrm>
              <a:prstGeom prst="rect">
                <a:avLst/>
              </a:prstGeom>
              <a:blipFill>
                <a:blip r:embed="rId2"/>
                <a:stretch>
                  <a:fillRect l="-1537" t="-3302" b="-44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D5F41C75-9621-D16E-0450-F2591C59E5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9367460"/>
              </p:ext>
            </p:extLst>
          </p:nvPr>
        </p:nvGraphicFramePr>
        <p:xfrm>
          <a:off x="2503568" y="3783086"/>
          <a:ext cx="7841485" cy="2298065"/>
        </p:xfrm>
        <a:graphic>
          <a:graphicData uri="http://schemas.openxmlformats.org/drawingml/2006/table">
            <a:tbl>
              <a:tblPr firstRow="1" firstCol="1" bandRow="1"/>
              <a:tblGrid>
                <a:gridCol w="1519756">
                  <a:extLst>
                    <a:ext uri="{9D8B030D-6E8A-4147-A177-3AD203B41FA5}">
                      <a16:colId xmlns:a16="http://schemas.microsoft.com/office/drawing/2014/main" val="1596686702"/>
                    </a:ext>
                  </a:extLst>
                </a:gridCol>
                <a:gridCol w="1539303">
                  <a:extLst>
                    <a:ext uri="{9D8B030D-6E8A-4147-A177-3AD203B41FA5}">
                      <a16:colId xmlns:a16="http://schemas.microsoft.com/office/drawing/2014/main" val="82399709"/>
                    </a:ext>
                  </a:extLst>
                </a:gridCol>
                <a:gridCol w="1718481">
                  <a:extLst>
                    <a:ext uri="{9D8B030D-6E8A-4147-A177-3AD203B41FA5}">
                      <a16:colId xmlns:a16="http://schemas.microsoft.com/office/drawing/2014/main" val="3119422642"/>
                    </a:ext>
                  </a:extLst>
                </a:gridCol>
                <a:gridCol w="1527900">
                  <a:extLst>
                    <a:ext uri="{9D8B030D-6E8A-4147-A177-3AD203B41FA5}">
                      <a16:colId xmlns:a16="http://schemas.microsoft.com/office/drawing/2014/main" val="2194136325"/>
                    </a:ext>
                  </a:extLst>
                </a:gridCol>
                <a:gridCol w="1536045">
                  <a:extLst>
                    <a:ext uri="{9D8B030D-6E8A-4147-A177-3AD203B41FA5}">
                      <a16:colId xmlns:a16="http://schemas.microsoft.com/office/drawing/2014/main" val="3249606036"/>
                    </a:ext>
                  </a:extLst>
                </a:gridCol>
              </a:tblGrid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precision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recall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F1-score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support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76091"/>
                  </a:ext>
                </a:extLst>
              </a:tr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0.97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0.98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1273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68192"/>
                  </a:ext>
                </a:extLst>
              </a:tr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0.91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0.95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456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31187"/>
                  </a:ext>
                </a:extLst>
              </a:tr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1.00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1.00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45994"/>
                  </a:ext>
                </a:extLst>
              </a:tr>
              <a:tr h="309274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Acc.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0.97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230809"/>
                  </a:ext>
                </a:extLst>
              </a:tr>
              <a:tr h="309274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Macro Avg. F1.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0.98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235734"/>
                  </a:ext>
                </a:extLst>
              </a:tr>
              <a:tr h="309274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Balanced Acc.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0.97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959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67596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F49B2-C358-E0FF-54E4-3BE44A1B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A3A116A9-25F5-42E3-C64E-285AEEBFBD16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57160E-EF4B-50A9-BB62-7C6985BB5EAE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85D4BF0-4909-6D26-CF3C-F5FCCECAA97E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2611950-E871-4C32-87BC-ABAD94C3C9A8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29788A8-7E62-9235-C5B8-2B60B5156643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00DDD41-6926-7F00-A155-1FFAA4DDED1A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2B3A7439-1141-6F3D-90E3-E85B86819D64}"/>
                  </a:ext>
                </a:extLst>
              </p:cNvPr>
              <p:cNvSpPr txBox="1"/>
              <p:nvPr/>
            </p:nvSpPr>
            <p:spPr>
              <a:xfrm>
                <a:off x="1266224" y="1022656"/>
                <a:ext cx="10316175" cy="26582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Results of KNN </a:t>
                </a:r>
                <a:r>
                  <a:rPr lang="en-US" altLang="zh-TW" sz="2800" b="1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(60% training 40% testing)</a:t>
                </a:r>
              </a:p>
              <a:p>
                <a:pPr marL="342900" indent="-342900" algn="just">
                  <a:lnSpc>
                    <a:spcPct val="115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Confusion matrix: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8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zh-TW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zh-TW" sz="24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1268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 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 2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450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zh-TW" sz="2400" i="1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 0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</a:rPr>
                                        <m:t>5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15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Classification report: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2B3A7439-1141-6F3D-90E3-E85B86819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224" y="1022656"/>
                <a:ext cx="10316175" cy="2658228"/>
              </a:xfrm>
              <a:prstGeom prst="rect">
                <a:avLst/>
              </a:prstGeom>
              <a:blipFill>
                <a:blip r:embed="rId2"/>
                <a:stretch>
                  <a:fillRect l="-1537" t="-3211" b="-183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9441967B-B509-7835-B321-5EBA7A21C3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8111521"/>
              </p:ext>
            </p:extLst>
          </p:nvPr>
        </p:nvGraphicFramePr>
        <p:xfrm>
          <a:off x="2503568" y="3783086"/>
          <a:ext cx="7841485" cy="2298065"/>
        </p:xfrm>
        <a:graphic>
          <a:graphicData uri="http://schemas.openxmlformats.org/drawingml/2006/table">
            <a:tbl>
              <a:tblPr firstRow="1" firstCol="1" bandRow="1"/>
              <a:tblGrid>
                <a:gridCol w="1519756">
                  <a:extLst>
                    <a:ext uri="{9D8B030D-6E8A-4147-A177-3AD203B41FA5}">
                      <a16:colId xmlns:a16="http://schemas.microsoft.com/office/drawing/2014/main" val="1596686702"/>
                    </a:ext>
                  </a:extLst>
                </a:gridCol>
                <a:gridCol w="1539303">
                  <a:extLst>
                    <a:ext uri="{9D8B030D-6E8A-4147-A177-3AD203B41FA5}">
                      <a16:colId xmlns:a16="http://schemas.microsoft.com/office/drawing/2014/main" val="82399709"/>
                    </a:ext>
                  </a:extLst>
                </a:gridCol>
                <a:gridCol w="1718481">
                  <a:extLst>
                    <a:ext uri="{9D8B030D-6E8A-4147-A177-3AD203B41FA5}">
                      <a16:colId xmlns:a16="http://schemas.microsoft.com/office/drawing/2014/main" val="3119422642"/>
                    </a:ext>
                  </a:extLst>
                </a:gridCol>
                <a:gridCol w="1527900">
                  <a:extLst>
                    <a:ext uri="{9D8B030D-6E8A-4147-A177-3AD203B41FA5}">
                      <a16:colId xmlns:a16="http://schemas.microsoft.com/office/drawing/2014/main" val="2194136325"/>
                    </a:ext>
                  </a:extLst>
                </a:gridCol>
                <a:gridCol w="1536045">
                  <a:extLst>
                    <a:ext uri="{9D8B030D-6E8A-4147-A177-3AD203B41FA5}">
                      <a16:colId xmlns:a16="http://schemas.microsoft.com/office/drawing/2014/main" val="3249606036"/>
                    </a:ext>
                  </a:extLst>
                </a:gridCol>
              </a:tblGrid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precision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recall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F1-score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support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76091"/>
                  </a:ext>
                </a:extLst>
              </a:tr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1273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68192"/>
                  </a:ext>
                </a:extLst>
              </a:tr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456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31187"/>
                  </a:ext>
                </a:extLst>
              </a:tr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1.00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0.71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0.83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45994"/>
                  </a:ext>
                </a:extLst>
              </a:tr>
              <a:tr h="309274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Acc.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230809"/>
                  </a:ext>
                </a:extLst>
              </a:tr>
              <a:tr h="309274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Macro Avg. F1.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0.94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235734"/>
                  </a:ext>
                </a:extLst>
              </a:tr>
              <a:tr h="309274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Balanced Acc.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0.90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959548"/>
                  </a:ext>
                </a:extLst>
              </a:tr>
            </a:tbl>
          </a:graphicData>
        </a:graphic>
      </p:graphicFrame>
      <p:sp>
        <p:nvSpPr>
          <p:cNvPr id="3" name="橢圓 2">
            <a:extLst>
              <a:ext uri="{FF2B5EF4-FFF2-40B4-BE49-F238E27FC236}">
                <a16:creationId xmlns:a16="http://schemas.microsoft.com/office/drawing/2014/main" id="{CD119A16-B5D4-4334-89C8-DEF63004864E}"/>
              </a:ext>
            </a:extLst>
          </p:cNvPr>
          <p:cNvSpPr/>
          <p:nvPr/>
        </p:nvSpPr>
        <p:spPr>
          <a:xfrm>
            <a:off x="8734425" y="5038725"/>
            <a:ext cx="742950" cy="400050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05036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FF3A2-B88A-3503-DCA9-FA070E255E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535D2F3-143E-3D6A-8940-484EF26863B4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A347088-729D-D84F-A7E4-33964B54EB75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2AAAF13-DE98-C46A-C2BB-8EC4C1C56238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4EDAE32-2F23-B04E-AB66-E4AB2DBDC41D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C936C8AA-41EF-5CB2-AD43-E598C7FBAAB5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3181E00-FCBE-FFBE-0A39-075BD9B917EB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19920D9-FC96-8B6E-A8F3-6E1AF8CB8253}"/>
                  </a:ext>
                </a:extLst>
              </p:cNvPr>
              <p:cNvSpPr txBox="1"/>
              <p:nvPr/>
            </p:nvSpPr>
            <p:spPr>
              <a:xfrm>
                <a:off x="1266224" y="1022656"/>
                <a:ext cx="10316175" cy="259667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TW" sz="3200" b="1" dirty="0"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Results of Naïve Gaussian</a:t>
                </a:r>
                <a:r>
                  <a:rPr lang="en-US" altLang="zh-TW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(60% training 40% testing)</a:t>
                </a:r>
                <a:endParaRPr lang="en-US" altLang="zh-TW" sz="2800" b="1" dirty="0">
                  <a:latin typeface="Times New Roman" panose="02020603050405020304" pitchFamily="18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342900" indent="-342900" algn="just">
                  <a:lnSpc>
                    <a:spcPct val="115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Confusion matrix: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algn="ctr"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zh-TW" sz="2400" i="1" kern="100" smtClean="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1204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 10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 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45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446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zh-TW" alt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 24 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TW" sz="2400" i="1"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6</m:t>
                                      </m:r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  <a:p>
                <a:pPr marL="342900" indent="-342900">
                  <a:lnSpc>
                    <a:spcPct val="115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en-US" altLang="zh-TW" sz="2400" kern="100" dirty="0">
                    <a:effectLst/>
                    <a:latin typeface="Times New Roman" panose="02020603050405020304" pitchFamily="18" charset="0"/>
                    <a:ea typeface="新細明體" panose="02020500000000000000" pitchFamily="18" charset="-120"/>
                    <a:cs typeface="Times New Roman" panose="02020603050405020304" pitchFamily="18" charset="0"/>
                  </a:rPr>
                  <a:t>Classification report:</a:t>
                </a:r>
                <a:endParaRPr lang="zh-TW" altLang="zh-TW" sz="2400" kern="100" dirty="0">
                  <a:effectLst/>
                  <a:latin typeface="Calibri" panose="020F0502020204030204" pitchFamily="34" charset="0"/>
                  <a:ea typeface="新細明體" panose="02020500000000000000" pitchFamily="18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文字方塊 1">
                <a:extLst>
                  <a:ext uri="{FF2B5EF4-FFF2-40B4-BE49-F238E27FC236}">
                    <a16:creationId xmlns:a16="http://schemas.microsoft.com/office/drawing/2014/main" id="{119920D9-FC96-8B6E-A8F3-6E1AF8CB8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66224" y="1022656"/>
                <a:ext cx="10316175" cy="2596673"/>
              </a:xfrm>
              <a:prstGeom prst="rect">
                <a:avLst/>
              </a:prstGeom>
              <a:blipFill>
                <a:blip r:embed="rId2"/>
                <a:stretch>
                  <a:fillRect l="-1537" t="-3286" b="-422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665D3AA6-26A3-1B74-4553-9DF8A2AE2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4615178"/>
              </p:ext>
            </p:extLst>
          </p:nvPr>
        </p:nvGraphicFramePr>
        <p:xfrm>
          <a:off x="2503568" y="3783086"/>
          <a:ext cx="7841485" cy="2298065"/>
        </p:xfrm>
        <a:graphic>
          <a:graphicData uri="http://schemas.openxmlformats.org/drawingml/2006/table">
            <a:tbl>
              <a:tblPr firstRow="1" firstCol="1" bandRow="1"/>
              <a:tblGrid>
                <a:gridCol w="1519756">
                  <a:extLst>
                    <a:ext uri="{9D8B030D-6E8A-4147-A177-3AD203B41FA5}">
                      <a16:colId xmlns:a16="http://schemas.microsoft.com/office/drawing/2014/main" val="1596686702"/>
                    </a:ext>
                  </a:extLst>
                </a:gridCol>
                <a:gridCol w="1539303">
                  <a:extLst>
                    <a:ext uri="{9D8B030D-6E8A-4147-A177-3AD203B41FA5}">
                      <a16:colId xmlns:a16="http://schemas.microsoft.com/office/drawing/2014/main" val="82399709"/>
                    </a:ext>
                  </a:extLst>
                </a:gridCol>
                <a:gridCol w="1718481">
                  <a:extLst>
                    <a:ext uri="{9D8B030D-6E8A-4147-A177-3AD203B41FA5}">
                      <a16:colId xmlns:a16="http://schemas.microsoft.com/office/drawing/2014/main" val="3119422642"/>
                    </a:ext>
                  </a:extLst>
                </a:gridCol>
                <a:gridCol w="1527900">
                  <a:extLst>
                    <a:ext uri="{9D8B030D-6E8A-4147-A177-3AD203B41FA5}">
                      <a16:colId xmlns:a16="http://schemas.microsoft.com/office/drawing/2014/main" val="2194136325"/>
                    </a:ext>
                  </a:extLst>
                </a:gridCol>
                <a:gridCol w="1536045">
                  <a:extLst>
                    <a:ext uri="{9D8B030D-6E8A-4147-A177-3AD203B41FA5}">
                      <a16:colId xmlns:a16="http://schemas.microsoft.com/office/drawing/2014/main" val="3249606036"/>
                    </a:ext>
                  </a:extLst>
                </a:gridCol>
              </a:tblGrid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 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precision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recall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F1-score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support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1476091"/>
                  </a:ext>
                </a:extLst>
              </a:tr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0.99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0.95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0.97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1273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68192"/>
                  </a:ext>
                </a:extLst>
              </a:tr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0.91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0.98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0.94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456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931187"/>
                  </a:ext>
                </a:extLst>
              </a:tr>
              <a:tr h="309274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C3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0.86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0.32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7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645994"/>
                  </a:ext>
                </a:extLst>
              </a:tr>
              <a:tr h="309274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Acc.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0.95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230809"/>
                  </a:ext>
                </a:extLst>
              </a:tr>
              <a:tr h="309274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Macro Avg. F1.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0.74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235734"/>
                  </a:ext>
                </a:extLst>
              </a:tr>
              <a:tr h="309274">
                <a:tc gridSpan="4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Balanced Acc.</a:t>
                      </a:r>
                      <a:endParaRPr lang="zh-TW" sz="2000" kern="10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2000" kern="1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新細明體" panose="02020500000000000000" pitchFamily="18" charset="-120"/>
                          <a:cs typeface="Times New Roman" panose="02020603050405020304" pitchFamily="18" charset="0"/>
                        </a:rPr>
                        <a:t>0.93</a:t>
                      </a:r>
                      <a:endParaRPr lang="zh-TW" sz="2000" kern="100" dirty="0">
                        <a:effectLst/>
                        <a:latin typeface="Calibri" panose="020F0502020204030204" pitchFamily="34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39595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81231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2CD2C-5BFC-C539-3FE6-ECEE1055D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C4EB9AE6-A6FB-BC99-4B3D-A4E135AE8769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00063A-DC94-6FDC-5EE3-0173B37A38AE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144F699-A85D-12D2-0BD4-B52F4DB37F9B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000A1B0-6CB3-ADB0-2E4E-DA23EDFAAEC7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8383C62-D855-1F70-262E-2AC8C7C6E7BF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F7B562E-4B47-92B1-0491-1459B26C9421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E21CE274-12A8-1C7F-B043-794210034ADA}"/>
              </a:ext>
            </a:extLst>
          </p:cNvPr>
          <p:cNvSpPr txBox="1"/>
          <p:nvPr/>
        </p:nvSpPr>
        <p:spPr>
          <a:xfrm>
            <a:off x="937912" y="1403656"/>
            <a:ext cx="10316175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Discussion:  (LDA &gt; KNN &gt; Naïve Gaussian)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60000">
              <a:lnSpc>
                <a:spcPct val="150000"/>
              </a:lnSpc>
            </a:pPr>
            <a:r>
              <a:rPr lang="en-US" altLang="zh-TW" sz="28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1. LDA</a:t>
            </a:r>
          </a:p>
          <a:p>
            <a:pPr marL="360000"/>
            <a:r>
              <a:rPr lang="en-US" altLang="zh-TW" sz="2400" dirty="0">
                <a:effectLst/>
                <a:latin typeface="Times New Roman" panose="02020603050405020304" pitchFamily="18" charset="0"/>
                <a:ea typeface="新細明體" panose="02020500000000000000" pitchFamily="18" charset="-120"/>
              </a:rPr>
              <a:t>The three clusters exhibit strong directional differences that make them close to linearly separable.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60000">
              <a:lnSpc>
                <a:spcPct val="150000"/>
              </a:lnSpc>
            </a:pPr>
            <a:r>
              <a:rPr lang="en-US" altLang="zh-TW" sz="28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2. KNN</a:t>
            </a:r>
          </a:p>
          <a:p>
            <a:pPr marL="360000"/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Can easily be misclassified i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a data close to another class in certain dimensions </a:t>
            </a:r>
            <a:endParaRPr lang="en-US" altLang="zh-TW" sz="2400" dirty="0">
              <a:latin typeface="Times New Roman" panose="02020603050405020304" pitchFamily="18" charset="0"/>
              <a:ea typeface="新細明體" panose="02020500000000000000" pitchFamily="18" charset="-120"/>
              <a:cs typeface="Times New Roman" panose="02020603050405020304" pitchFamily="18" charset="0"/>
            </a:endParaRPr>
          </a:p>
          <a:p>
            <a:pPr marL="360000">
              <a:lnSpc>
                <a:spcPct val="150000"/>
              </a:lnSpc>
            </a:pPr>
            <a:r>
              <a:rPr lang="en-US" altLang="zh-TW" sz="28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3. Naïve Gaussian</a:t>
            </a:r>
          </a:p>
          <a:p>
            <a:pPr marL="70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sensitive to dimensions where samples appear close to other classes. </a:t>
            </a:r>
          </a:p>
          <a:p>
            <a:pPr marL="702900" indent="-342900">
              <a:buFont typeface="Arial" panose="020B0604020202020204" pitchFamily="34" charset="0"/>
              <a:buChar char="•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assumption that all features are independent within a class is unrealistic</a:t>
            </a:r>
          </a:p>
        </p:txBody>
      </p:sp>
    </p:spTree>
    <p:extLst>
      <p:ext uri="{BB962C8B-B14F-4D97-AF65-F5344CB8AC3E}">
        <p14:creationId xmlns:p14="http://schemas.microsoft.com/office/powerpoint/2010/main" val="20208291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91BBC4-89EB-DFB6-40E5-6B8DA8CC0B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08918E06-B622-730B-FF09-5C8D261ADA7D}"/>
              </a:ext>
            </a:extLst>
          </p:cNvPr>
          <p:cNvSpPr/>
          <p:nvPr/>
        </p:nvSpPr>
        <p:spPr>
          <a:xfrm>
            <a:off x="0" y="0"/>
            <a:ext cx="1980000" cy="590549"/>
          </a:xfrm>
          <a:prstGeom prst="rect">
            <a:avLst/>
          </a:prstGeom>
          <a:solidFill>
            <a:srgbClr val="FFFFFF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ysClr val="windowText" lastClr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</a:t>
            </a:r>
            <a:endParaRPr lang="zh-TW" altLang="en-US" b="1" dirty="0">
              <a:solidFill>
                <a:sysClr val="windowText" lastClr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DBA3122-649D-18DE-1C21-1A6D8ECDDF16}"/>
              </a:ext>
            </a:extLst>
          </p:cNvPr>
          <p:cNvSpPr/>
          <p:nvPr/>
        </p:nvSpPr>
        <p:spPr>
          <a:xfrm>
            <a:off x="1980000" y="0"/>
            <a:ext cx="1980000" cy="590550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0B309219-FEB8-B7A5-F442-D7B17D6FD273}"/>
              </a:ext>
            </a:extLst>
          </p:cNvPr>
          <p:cNvSpPr/>
          <p:nvPr/>
        </p:nvSpPr>
        <p:spPr>
          <a:xfrm>
            <a:off x="3960000" y="0"/>
            <a:ext cx="1980000" cy="590551"/>
          </a:xfrm>
          <a:prstGeom prst="rect">
            <a:avLst/>
          </a:prstGeom>
          <a:solidFill>
            <a:schemeClr val="bg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Standardization &amp; PCA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283842F-77DF-34AC-C963-02EB059B6BA7}"/>
              </a:ext>
            </a:extLst>
          </p:cNvPr>
          <p:cNvSpPr/>
          <p:nvPr/>
        </p:nvSpPr>
        <p:spPr>
          <a:xfrm>
            <a:off x="5939999" y="-11"/>
            <a:ext cx="2108625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6C7B75D-315B-5345-C531-E46892EF6666}"/>
              </a:ext>
            </a:extLst>
          </p:cNvPr>
          <p:cNvSpPr/>
          <p:nvPr/>
        </p:nvSpPr>
        <p:spPr>
          <a:xfrm>
            <a:off x="8048624" y="-22"/>
            <a:ext cx="2163376" cy="590551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Supervised</a:t>
            </a:r>
          </a:p>
          <a:p>
            <a:pPr algn="ctr"/>
            <a:r>
              <a:rPr lang="en-US" altLang="zh-TW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Method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4FF68AF-3EF4-AA1D-18B1-E239707BD802}"/>
              </a:ext>
            </a:extLst>
          </p:cNvPr>
          <p:cNvSpPr/>
          <p:nvPr/>
        </p:nvSpPr>
        <p:spPr>
          <a:xfrm>
            <a:off x="10212000" y="-12"/>
            <a:ext cx="1980000" cy="590551"/>
          </a:xfrm>
          <a:prstGeom prst="rect">
            <a:avLst/>
          </a:prstGeom>
          <a:solidFill>
            <a:schemeClr val="tx1"/>
          </a:solidFill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zh-TW" alt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C950B99-3986-0B75-DFEA-1B995D4872B6}"/>
              </a:ext>
            </a:extLst>
          </p:cNvPr>
          <p:cNvSpPr txBox="1"/>
          <p:nvPr/>
        </p:nvSpPr>
        <p:spPr>
          <a:xfrm>
            <a:off x="1477236" y="2356157"/>
            <a:ext cx="10316175" cy="24314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3200" b="1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Conclusion: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This case shows that when the dataset is:</a:t>
            </a:r>
          </a:p>
          <a:p>
            <a:pPr marL="457200" indent="-457200"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The number of features is limited</a:t>
            </a:r>
          </a:p>
          <a:p>
            <a:pPr marL="457200" indent="-457200"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Customer behaviors exhibit clear directional differences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ea typeface="新細明體" panose="02020500000000000000" pitchFamily="18" charset="-120"/>
                <a:cs typeface="Times New Roman" panose="02020603050405020304" pitchFamily="18" charset="0"/>
              </a:rPr>
              <a:t>Simple and interpretable linear models (such as LDA) can accurately identify high-value customers, without necessarily relying on complex models.</a:t>
            </a:r>
          </a:p>
        </p:txBody>
      </p:sp>
    </p:spTree>
    <p:extLst>
      <p:ext uri="{BB962C8B-B14F-4D97-AF65-F5344CB8AC3E}">
        <p14:creationId xmlns:p14="http://schemas.microsoft.com/office/powerpoint/2010/main" val="28034153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773</TotalTime>
  <Words>1424</Words>
  <Application>Microsoft Office PowerPoint</Application>
  <PresentationFormat>寬螢幕</PresentationFormat>
  <Paragraphs>568</Paragraphs>
  <Slides>25</Slides>
  <Notes>1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Document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ricki len</dc:creator>
  <cp:lastModifiedBy>ricki len</cp:lastModifiedBy>
  <cp:revision>5</cp:revision>
  <dcterms:created xsi:type="dcterms:W3CDTF">2025-12-11T10:40:41Z</dcterms:created>
  <dcterms:modified xsi:type="dcterms:W3CDTF">2025-12-14T15:40:15Z</dcterms:modified>
</cp:coreProperties>
</file>